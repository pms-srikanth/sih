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56032"/>
            <a:ext cx="8778240" cy="73152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3600" b="1" u="none">
                <a:solidFill>
                  <a:srgbClr val="1F4E79"/>
                </a:solidFill>
                <a:latin typeface="Times New Roman"/>
              </a:rPr>
              <a:t>SMART INDIA HACKATHON 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9677095" y="182880"/>
            <a:ext cx="2286000" cy="914400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77095" y="182880"/>
            <a:ext cx="2286000" cy="914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88720"/>
            <a:ext cx="12191695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700" b="1" u="none">
                <a:solidFill>
                  <a:srgbClr val="000000"/>
                </a:solidFill>
                <a:latin typeface="Times New Roman"/>
              </a:rPr>
              <a:t>TITLE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Problem Statement ID –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SIH26171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71576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Problem Statement Title-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On-device Visual Perception for Light-weight Browser Agents (privacy-preserving browser agent with local redaction)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02152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Theme-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Miscellaneous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PS Category- 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636008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Team ID- 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&lt;Team ID&gt;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202936"/>
            <a:ext cx="1060704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u="none">
                <a:solidFill>
                  <a:srgbClr val="000000"/>
                </a:solidFill>
                <a:latin typeface="Calibri"/>
              </a:rPr>
              <a:t>•  </a:t>
            </a:r>
            <a:r>
              <a:rPr sz="1500" b="1" u="none">
                <a:solidFill>
                  <a:srgbClr val="000000"/>
                </a:solidFill>
                <a:latin typeface="Calibri"/>
              </a:rPr>
              <a:t>Team Name- </a:t>
            </a:r>
            <a:r>
              <a:rPr sz="1500" b="0" u="sng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09728"/>
            <a:ext cx="1005840" cy="566928"/>
          </a:xfrm>
          <a:prstGeom prst="ellipse">
            <a:avLst/>
          </a:prstGeom>
          <a:noFill/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91440"/>
            <a:ext cx="4983480" cy="603504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914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u="none">
                <a:solidFill>
                  <a:srgbClr val="000000"/>
                </a:solidFill>
                <a:latin typeface="Times New Roman"/>
              </a:rPr>
              <a:t>IDEA TITLE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585216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822960"/>
            <a:ext cx="553212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9144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Calibri"/>
              </a:rPr>
              <a:t>❖ 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Proposed Solution: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71600"/>
            <a:ext cx="553212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A32B20"/>
                </a:solidFill>
                <a:latin typeface="Calibri"/>
              </a:rPr>
              <a:t>Problem:  </a:t>
            </a:r>
            <a:r>
              <a:rPr sz="1050" b="0" u="none">
                <a:solidFill>
                  <a:srgbClr val="1A1A1A"/>
                </a:solidFill>
                <a:latin typeface="Calibri"/>
              </a:rPr>
              <a:t>every browser AI agent today uploads your screen — passwords, faces and all.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88366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On-device Screen Reading: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" y="2075688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A 1.2 MB vision model reads the page inside your browser.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2313432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Local Privacy Engine: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250545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DOM rules, checksums and pixels find every personal value.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" y="2743200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Safe Reference Substitution: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" y="2935224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Your email becomes EMAIL_1 — typed, opaque, and stable.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72968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Verify-Before-Send Gate: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3364991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An independent check re-reads the bytes and can refuse to send.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" y="3602735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Server Reasons Blindly: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" y="3794759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It plans using EMAIL_1 and never learns the address.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4032503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Local Resolution &amp; Execution: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4224527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Your browser swaps the handle back and types the real value.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462271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Encrypted Personal Vault: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5216" y="4654295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AES-256-GCM; the key dies when the browser closes.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" y="4892039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Ingestion Verification: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" y="5084063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Every field is read back to confirm the value truly landed.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8912" y="5413248"/>
            <a:ext cx="5522976" cy="969264"/>
          </a:xfrm>
          <a:prstGeom prst="rect">
            <a:avLst/>
          </a:prstGeom>
          <a:solidFill>
            <a:srgbClr val="E9F2EC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5504688"/>
            <a:ext cx="5285232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00" b="1" u="none">
                <a:solidFill>
                  <a:srgbClr val="15803D"/>
                </a:solidFill>
                <a:latin typeface="Calibri"/>
              </a:rPr>
              <a:t>Innovation &amp; Uniqueness — built and measured today: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Handles keep meaning: server sees two fields share ONE email, never the email.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Vision runs only where the page is opaque — 92% of a screen is never analysed.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A verifier with a veto — checks the outgoing bytes AND the masked picture.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49540" y="969264"/>
            <a:ext cx="2743200" cy="347472"/>
          </a:xfrm>
          <a:prstGeom prst="rect">
            <a:avLst/>
          </a:prstGeom>
          <a:solidFill>
            <a:srgbClr val="DEE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86115" y="969264"/>
            <a:ext cx="267004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USER TASK  —  “fill this form”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121140" y="1316736"/>
            <a:ext cx="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6519672" y="1481328"/>
            <a:ext cx="5202936" cy="2121408"/>
          </a:xfrm>
          <a:prstGeom prst="rect">
            <a:avLst/>
          </a:prstGeom>
          <a:solidFill>
            <a:srgbClr val="F7FB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11112" y="15361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F4E79"/>
                </a:solidFill>
                <a:latin typeface="Calibri"/>
              </a:rPr>
              <a:t>ON YOUR DEVICE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49540" y="1773936"/>
            <a:ext cx="2743200" cy="329184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86115" y="1773936"/>
            <a:ext cx="26700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Capture DOM + accessibility tree + screen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21140" y="2103120"/>
            <a:ext cx="0" cy="128016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7749540" y="2231136"/>
            <a:ext cx="2743200" cy="329184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86115" y="2231136"/>
            <a:ext cx="26700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Vision model reads the pixels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121140" y="2560320"/>
            <a:ext cx="0" cy="128016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7749540" y="2688336"/>
            <a:ext cx="2743200" cy="329184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86115" y="2688336"/>
            <a:ext cx="2670048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Find PII  ·  redact  ·  mask faces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9121140" y="3017520"/>
            <a:ext cx="0" cy="128016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7749540" y="3145536"/>
            <a:ext cx="2743200" cy="365760"/>
          </a:xfrm>
          <a:prstGeom prst="rect">
            <a:avLst/>
          </a:prstGeom>
          <a:solidFill>
            <a:srgbClr val="FBE5D6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86115" y="3145536"/>
            <a:ext cx="2670048" cy="36576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VERIFIER  —  may refuse to send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121140" y="3511296"/>
            <a:ext cx="0" cy="201167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6519672" y="3712463"/>
            <a:ext cx="5202936" cy="310896"/>
          </a:xfrm>
          <a:prstGeom prst="rect">
            <a:avLst/>
          </a:prstGeom>
          <a:solidFill>
            <a:srgbClr val="FBEBE9"/>
          </a:solidFill>
          <a:ln w="15875">
            <a:solidFill>
              <a:srgbClr val="A3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19672" y="3712463"/>
            <a:ext cx="5202936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A32B20"/>
                </a:solidFill>
                <a:latin typeface="Calibri"/>
              </a:rPr>
              <a:t>PRIVACY BOUNDARY  —  handles only, never values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121140" y="4023360"/>
            <a:ext cx="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519672" y="4187952"/>
            <a:ext cx="5202936" cy="786384"/>
          </a:xfrm>
          <a:prstGeom prst="rect">
            <a:avLst/>
          </a:prstGeom>
          <a:solidFill>
            <a:srgbClr val="EDEBF8"/>
          </a:solidFill>
          <a:ln w="12700">
            <a:solidFill>
              <a:srgbClr val="8E8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11112" y="4242816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4A42B8"/>
                </a:solidFill>
                <a:latin typeface="Calibri"/>
              </a:rPr>
              <a:t>SERVER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49540" y="4480560"/>
            <a:ext cx="2743200" cy="420624"/>
          </a:xfrm>
          <a:prstGeom prst="rect">
            <a:avLst/>
          </a:prstGeom>
          <a:solidFill>
            <a:srgbClr val="E4E0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86115" y="4480560"/>
            <a:ext cx="2670048" cy="4206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Open-weights VLM plans the step
“fill el_7 with EMAIL_1”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121140" y="4974336"/>
            <a:ext cx="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6519672" y="5138928"/>
            <a:ext cx="5202936" cy="1243584"/>
          </a:xfrm>
          <a:prstGeom prst="rect">
            <a:avLst/>
          </a:prstGeom>
          <a:solidFill>
            <a:srgbClr val="F7FB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11112" y="5193792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F4E79"/>
                </a:solidFill>
                <a:latin typeface="Calibri"/>
              </a:rPr>
              <a:t>BACK ON YOUR DEVICE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749540" y="5431536"/>
            <a:ext cx="2743200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86115" y="5431536"/>
            <a:ext cx="267004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Resolve EMAIL_1 from the local vault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9121140" y="5742432"/>
            <a:ext cx="0" cy="109728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7749540" y="5852160"/>
            <a:ext cx="2743200" cy="310896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86115" y="5852160"/>
            <a:ext cx="2670048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Safety check · ground · type · verify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09728"/>
            <a:ext cx="1005840" cy="566928"/>
          </a:xfrm>
          <a:prstGeom prst="ellipse">
            <a:avLst/>
          </a:prstGeom>
          <a:noFill/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91440"/>
            <a:ext cx="4983480" cy="603504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914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u="none">
                <a:solidFill>
                  <a:srgbClr val="000000"/>
                </a:solidFill>
                <a:latin typeface="Times New Roman"/>
              </a:rPr>
              <a:t>TECHNICAL APPROACH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585216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822960"/>
            <a:ext cx="553212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9144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000000"/>
                </a:solidFill>
                <a:latin typeface="Calibri"/>
              </a:rPr>
              <a:t>•  Technologies to be used (e.g. programming languages, frameworks, hardware)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1673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Client Extension: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149961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TypeScript, WebExtension Manifest V3 (Chrome, Firefox).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172821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On-Device Inference: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1911095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ONNX Runtime Web — WebGPU, falling back to WASM + SIMD.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13969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Vision Model: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232257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UltraFace RFB-320 — 1.2 MB CNN, runs inside the browser.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55117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Screen Understanding: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273405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DOM + accessibility tree fused with model detections.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296265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PII Detection: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314553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DOM rules, regex, Verhoeff &amp; Luhn checksums, vision.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37413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Redaction: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" y="355701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OffscreenCanvas masking, span-level substitution.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" y="378561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Local Security: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396849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AES-256-GCM, PBKDF2 310k, Web Crypto API.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19709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Server Model: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" y="437997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Open-weights VLM — Llama-3.2-Vision / Qwen2.5-VL via vLLM.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608576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• Server API: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" y="4791456"/>
            <a:ext cx="539496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u="none">
                <a:solidFill>
                  <a:srgbClr val="1A1A1A"/>
                </a:solidFill>
                <a:latin typeface="Calibri"/>
              </a:rPr>
              <a:t>Node.js, OpenAI-compatible endpoint, guided JSON output.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" y="502920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000000"/>
                </a:solidFill>
                <a:latin typeface="Calibri"/>
              </a:rPr>
              <a:t>•  Methodology and process for implementation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5340096"/>
            <a:ext cx="5522976" cy="100584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43153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1. Read screen (DOM + AX + pixels)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39" y="5431536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2. Decide locally — act if unambiguous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72414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3. Detect &amp; redact every personal value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91839" y="5724144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4. Verify, then transmit handles only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16752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5. Server plans one constrained 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39" y="6016752"/>
            <a:ext cx="26517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6. Resolve, ground, execute, confirm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914400"/>
            <a:ext cx="5257800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u="none">
                <a:solidFill>
                  <a:srgbClr val="1F4E79"/>
                </a:solidFill>
                <a:latin typeface="Calibri"/>
              </a:rPr>
              <a:t>System Architecture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1243584"/>
            <a:ext cx="5074920" cy="1481328"/>
          </a:xfrm>
          <a:prstGeom prst="rect">
            <a:avLst/>
          </a:prstGeom>
          <a:solidFill>
            <a:srgbClr val="F7FBFF"/>
          </a:solidFill>
          <a:ln w="12700">
            <a:solidFill>
              <a:srgbClr val="9DC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1298448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F4E79"/>
                </a:solidFill>
                <a:latin typeface="Calibri"/>
              </a:rPr>
              <a:t>BROWSER EXTENSION (client)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20840" y="1554480"/>
            <a:ext cx="1536192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7416" y="1554480"/>
            <a:ext cx="146303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Content Script
reads + acts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8472" y="1554480"/>
            <a:ext cx="1536192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85048" y="1554480"/>
            <a:ext cx="146303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Service Worker
vault + orchestration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976104" y="1554480"/>
            <a:ext cx="1536192" cy="493776"/>
          </a:xfrm>
          <a:prstGeom prst="rect">
            <a:avLst/>
          </a:prstGeom>
          <a:solidFill>
            <a:srgbClr val="FFF2CC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12680" y="1554480"/>
            <a:ext cx="1463039" cy="49377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Offscreen Doc
vision model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20840" y="2139696"/>
            <a:ext cx="4791456" cy="457200"/>
          </a:xfrm>
          <a:prstGeom prst="rect">
            <a:avLst/>
          </a:prstGeom>
          <a:solidFill>
            <a:srgbClr val="DDEB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757416" y="2139696"/>
            <a:ext cx="4718304" cy="4572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A1A1A"/>
                </a:solidFill>
                <a:latin typeface="Calibri"/>
              </a:rPr>
              <a:t>ONNX Runtime Web  ·  WebGPU  →  WASM + SIMD fallback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121140" y="2724912"/>
            <a:ext cx="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583680" y="2889504"/>
            <a:ext cx="5074920" cy="329184"/>
          </a:xfrm>
          <a:prstGeom prst="rect">
            <a:avLst/>
          </a:prstGeom>
          <a:solidFill>
            <a:srgbClr val="FBEBE9"/>
          </a:solidFill>
          <a:ln w="15875">
            <a:solidFill>
              <a:srgbClr val="A3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2889504"/>
            <a:ext cx="5074920" cy="32918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A32B20"/>
                </a:solidFill>
                <a:latin typeface="Calibri"/>
              </a:rPr>
              <a:t>SANITIZED CONTEXT  —  ~10 KB, handles only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121140" y="3218688"/>
            <a:ext cx="0" cy="164592"/>
          </a:xfrm>
          <a:prstGeom prst="line">
            <a:avLst/>
          </a:prstGeom>
          <a:ln w="15875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6583680" y="3383280"/>
            <a:ext cx="5074920" cy="1042415"/>
          </a:xfrm>
          <a:prstGeom prst="rect">
            <a:avLst/>
          </a:prstGeom>
          <a:solidFill>
            <a:srgbClr val="EDEBF8"/>
          </a:solidFill>
          <a:ln w="12700">
            <a:solidFill>
              <a:srgbClr val="8E8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75120" y="3438144"/>
            <a:ext cx="27432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4A42B8"/>
                </a:solidFill>
                <a:latin typeface="Calibri"/>
              </a:rPr>
              <a:t>SERVER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720840" y="3694176"/>
            <a:ext cx="1536192" cy="548640"/>
          </a:xfrm>
          <a:prstGeom prst="rect">
            <a:avLst/>
          </a:prstGeom>
          <a:solidFill>
            <a:srgbClr val="E4E0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757416" y="3694176"/>
            <a:ext cx="14630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Node.js API
schema guard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348472" y="3694176"/>
            <a:ext cx="1536192" cy="548640"/>
          </a:xfrm>
          <a:prstGeom prst="rect">
            <a:avLst/>
          </a:prstGeom>
          <a:solidFill>
            <a:srgbClr val="E4E0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85048" y="3694176"/>
            <a:ext cx="14630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Open-weights VLM
vLLM / Ollama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76104" y="3694176"/>
            <a:ext cx="1536192" cy="548640"/>
          </a:xfrm>
          <a:prstGeom prst="rect">
            <a:avLst/>
          </a:prstGeom>
          <a:solidFill>
            <a:srgbClr val="E4E0F7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12680" y="3694176"/>
            <a:ext cx="1463039" cy="54864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u="none">
                <a:solidFill>
                  <a:srgbClr val="1A1A1A"/>
                </a:solidFill>
                <a:latin typeface="Calibri"/>
              </a:rPr>
              <a:t>PII Output Guard
rejects literals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583680" y="4572000"/>
            <a:ext cx="5074920" cy="178308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702552" y="4645152"/>
            <a:ext cx="4837176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5803D"/>
                </a:solidFill>
                <a:latin typeface="Calibri"/>
              </a:rPr>
              <a:t>Working prototype — verifiable today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02552" y="491947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F4E79"/>
                </a:solidFill>
                <a:latin typeface="Consolas"/>
              </a:rPr>
              <a:t>npm run eval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58200" y="4919472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PII precision 1.000 / recall 1.000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02552" y="519379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F4E79"/>
                </a:solidFill>
                <a:latin typeface="Consolas"/>
              </a:rPr>
              <a:t>npm run model-check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58200" y="5193792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ONNX model loads, shapes verified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02552" y="5468112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F4E79"/>
                </a:solidFill>
                <a:latin typeface="Consolas"/>
              </a:rPr>
              <a:t>Side panel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58200" y="5468112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privacy receipt + exact bytes sent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702552" y="5742431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F4E79"/>
                </a:solidFill>
                <a:latin typeface="Consolas"/>
              </a:rPr>
              <a:t>Live overlay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58200" y="5742431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every control labelled on any page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02552" y="6016751"/>
            <a:ext cx="16916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u="none">
                <a:solidFill>
                  <a:srgbClr val="1F4E79"/>
                </a:solidFill>
                <a:latin typeface="Consolas"/>
              </a:rPr>
              <a:t>Telemetry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458200" y="6016751"/>
            <a:ext cx="3017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per-stage ms, bytes, network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09728"/>
            <a:ext cx="1005840" cy="566928"/>
          </a:xfrm>
          <a:prstGeom prst="ellipse">
            <a:avLst/>
          </a:prstGeom>
          <a:noFill/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91440"/>
            <a:ext cx="4983480" cy="603504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914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u="none">
                <a:solidFill>
                  <a:srgbClr val="000000"/>
                </a:solidFill>
                <a:latin typeface="Times New Roman"/>
              </a:rPr>
              <a:t>FEASIBILITY AND VIABILITY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585216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822960"/>
            <a:ext cx="553212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9144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Calibri"/>
              </a:rPr>
              <a:t>❖ 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Feasibility: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35024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Analysis of the feasibility of the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60934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1. Technical Feasibility: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84708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Already Running End to End: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029968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Extension and server work today, not a mock-up.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249424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Genuinely Small Model: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43230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1.2 MB — loads faster than most web fonts.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" y="2743200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2. Operational Feasibility: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980944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No New Hardware: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16382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Any laptop from the last five years; no GPU needed.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3383279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Works on Any Website: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66160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Runs on government portals and private forms alike.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" y="3877055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3. Legal &amp; Ethical Feasibility: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14799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DPDP Act 2023 Compliance: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97679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Minimisation is structural — not a policy promise.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517136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User Consent &amp; Control: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70001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Irreversible actions always stop for human approval.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4480560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Sustainability of the solution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736592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Open Standards Only: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4910328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WebExtension, ONNX, WebGPU — nothing proprietary.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138928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No Vendor Lock-In: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5312664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Open-weights server model, deployable offline.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541264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Low Running Cost: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715000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No GPU bill — perception runs on the client.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43600"/>
            <a:ext cx="53949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1A1A1A"/>
                </a:solidFill>
                <a:latin typeface="Calibri"/>
              </a:rPr>
              <a:t>Survives Model Churn: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6117336"/>
            <a:ext cx="52120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• Swap the model file; the design is unchanged.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9672" y="91440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Calibri"/>
              </a:rPr>
              <a:t>❖ 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Viability: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19672" y="1335024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Potential challenges and risks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1554480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Strategies for overcoming these challenges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1828800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Vision too slow inside a browser tab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93992" y="2011680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Only 5–20 small crops per step, never the whole screen.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224942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No WebGPU on the judging machine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93992" y="2432304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Falls back to CPU; Fast mode needs no vision at all.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29400" y="2670048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Over-redacting loses marks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93992" y="2852928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Checksums prove when a number is NOT an identity number.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29400" y="3090672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Page changes while the agent thinks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93992" y="3273552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Re-checks the element signature before every click.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3511296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Hostile page attempts prompt injection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93992" y="3694176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A value can only enter a field of the matching type.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29400" y="3931920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A value silently fails to enter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93992" y="4114800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Every field is read back and compared after filling.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29400" y="4352544"/>
            <a:ext cx="5074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A32B20"/>
                </a:solidFill>
                <a:latin typeface="Calibri"/>
              </a:rPr>
              <a:t>▲  Firefox build not yet tested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93992" y="4535424"/>
            <a:ext cx="489204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✓  Same codebase, separate manifest — a known gap.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19672" y="4846320"/>
            <a:ext cx="5202936" cy="1508760"/>
          </a:xfrm>
          <a:prstGeom prst="rect">
            <a:avLst/>
          </a:prstGeom>
          <a:solidFill>
            <a:srgbClr val="F2F2F2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47688" y="4919472"/>
            <a:ext cx="49469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Scalability &amp; Economic Viability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65976" y="5175504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Cost: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726679" y="5175504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Heavy work runs on a million clients, not on rented GPUs.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65976" y="5458968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Bandwidth: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26679" y="5458968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About 10 KB per step instead of full screenshots.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65976" y="5742431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Breach risk: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726679" y="5742431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No user data stored server-side — nothing to leak.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665976" y="6025895"/>
            <a:ext cx="10515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Portability: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726679" y="6025895"/>
            <a:ext cx="39319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The same boundary design fits desktop and mobile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09728"/>
            <a:ext cx="1005840" cy="566928"/>
          </a:xfrm>
          <a:prstGeom prst="ellipse">
            <a:avLst/>
          </a:prstGeom>
          <a:noFill/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91440"/>
            <a:ext cx="4983480" cy="603504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914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u="none">
                <a:solidFill>
                  <a:srgbClr val="000000"/>
                </a:solidFill>
                <a:latin typeface="Times New Roman"/>
              </a:rPr>
              <a:t>IMPACT AND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585216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80" y="822960"/>
            <a:ext cx="5532120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914400"/>
            <a:ext cx="557784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Calibri"/>
              </a:rPr>
              <a:t>❖ 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Impacts: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1335024"/>
            <a:ext cx="55778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Potential impact on the target audience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" y="160934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1. Citizens on Government Portals: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837943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Aadhaar and PAN stay on the phone while the form is filled.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05740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Scholarship and pension applications completed without exposure.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" y="238658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2. Banking, Insurance &amp; Finance: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615184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Card and account details never reach a third-party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83464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Automation becomes possible where policy previously forbade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" y="316382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3. Healthcare &amp; Legal Practice: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92424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Patient and client records stay inside the office.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61188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Confidentiality obligations are met by design, not by promise.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" y="394106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4. Accessibility — Blind &amp; Low-Vision Users: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4169664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An agent reads and operates the page on the user's behalf.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438912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Real assistance without surrendering the entire screen.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" y="4718304"/>
            <a:ext cx="553212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5. Every Web User: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4946904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Raises the ceiling on what people will let an agent do at all.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166360"/>
            <a:ext cx="530352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Privacy becomes inspectable — a receipt per step, not a policy page.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914400"/>
            <a:ext cx="52578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u="none">
                <a:solidFill>
                  <a:srgbClr val="1F4E79"/>
                </a:solidFill>
                <a:latin typeface="Calibri"/>
              </a:rPr>
              <a:t>❖ </a:t>
            </a:r>
            <a:r>
              <a:rPr sz="1900" b="1" u="sng">
                <a:solidFill>
                  <a:srgbClr val="1F4E79"/>
                </a:solidFill>
                <a:latin typeface="Calibri"/>
              </a:rPr>
              <a:t>Benefits: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9672" y="1335024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none">
                <a:solidFill>
                  <a:srgbClr val="000000"/>
                </a:solidFill>
                <a:latin typeface="Calibri"/>
              </a:rPr>
              <a:t>•  Benefits of the solution (social, economic, environmental, etc.)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9672" y="160934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1. Social Benefits: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39128" y="1837943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People trust an agent with tasks they refuse today.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39128" y="2057400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Privacy you can read on screen, not a policy nobody opens.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19672" y="238658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2. Economic Benefits: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39128" y="2615184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No GPU bill for perception — it runs on the client.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2834640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~10 KB per step instead of a screenshot per step.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316382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3. Environmental Benefits: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8" y="3392424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92% of each screen is work that is simply never done.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8" y="3611880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Most steps use no network and no server compute at all.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19672" y="394106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4. Security Benefits: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39128" y="4169664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Passwords are removed, never masked — never read at all.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39128" y="4389120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Prompt-injection blocked structurally by typed sinks.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19672" y="4718304"/>
            <a:ext cx="521208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5. Governance Benefits: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9128" y="4946904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Per-step receipts create an auditable privacy trail.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39128" y="5166360"/>
            <a:ext cx="498348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u="none">
                <a:solidFill>
                  <a:srgbClr val="1A1A1A"/>
                </a:solidFill>
                <a:latin typeface="Calibri"/>
              </a:rPr>
              <a:t>• DPDP data minimisation enforced by the transport format.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19672" y="4892040"/>
            <a:ext cx="5202936" cy="1463040"/>
          </a:xfrm>
          <a:prstGeom prst="rect">
            <a:avLst/>
          </a:prstGeom>
          <a:solidFill>
            <a:srgbClr val="E9F2EC"/>
          </a:solidFill>
          <a:ln w="127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7688" y="4974336"/>
            <a:ext cx="4946904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u="sng">
                <a:solidFill>
                  <a:srgbClr val="15803D"/>
                </a:solidFill>
                <a:latin typeface="Calibri"/>
              </a:rPr>
              <a:t>National Alignment &amp; Future 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65976" y="523036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Digital India: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55864" y="5230368"/>
            <a:ext cx="36118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Safe automation for citizens on public portals.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65976" y="5504688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Atmanirbhar Bharat: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55864" y="5504688"/>
            <a:ext cx="36118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Open-weights and self-hosted — no foreign API.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65976" y="5779007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DPDP Act 2023: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55864" y="5779007"/>
            <a:ext cx="36118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The server is structurally unable to receive the data.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65976" y="6053327"/>
            <a:ext cx="137160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u="none">
                <a:solidFill>
                  <a:srgbClr val="1A1A1A"/>
                </a:solidFill>
                <a:latin typeface="Calibri"/>
              </a:rPr>
              <a:t>Future Scope: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55864" y="6053327"/>
            <a:ext cx="3611879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u="none">
                <a:solidFill>
                  <a:srgbClr val="1A1A1A"/>
                </a:solidFill>
                <a:latin typeface="Calibri"/>
              </a:rPr>
              <a:t>Local NER &amp; OCR, desktop agents, a published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64592" y="109728"/>
            <a:ext cx="1005840" cy="566928"/>
          </a:xfrm>
          <a:prstGeom prst="ellipse">
            <a:avLst/>
          </a:prstGeom>
          <a:noFill/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4592" y="109728"/>
            <a:ext cx="1005840" cy="56692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1A1A1A"/>
                </a:solidFill>
                <a:latin typeface="Calibri"/>
              </a:rPr>
              <a:t>Your Team Name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91440"/>
            <a:ext cx="4983480" cy="603504"/>
          </a:xfrm>
          <a:prstGeom prst="roundRect">
            <a:avLst>
              <a:gd name="adj" fmla="val 40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11880" y="91440"/>
            <a:ext cx="49834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300" b="1" u="none">
                <a:solidFill>
                  <a:srgbClr val="000000"/>
                </a:solidFill>
                <a:latin typeface="Times New Roman"/>
              </a:rPr>
              <a:t>RESEARCH  AND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25735" y="91440"/>
            <a:ext cx="1783080" cy="60350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u="none">
                <a:solidFill>
                  <a:srgbClr val="808080"/>
                </a:solidFill>
                <a:latin typeface="Calibri"/>
              </a:rPr>
              <a:t>paste SIH 2026 logo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5895" y="647395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822960"/>
            <a:ext cx="11643055" cy="5715000"/>
          </a:xfrm>
          <a:prstGeom prst="rect">
            <a:avLst/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91440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u="none">
                <a:solidFill>
                  <a:srgbClr val="000000"/>
                </a:solidFill>
                <a:latin typeface="Calibri"/>
              </a:rPr>
              <a:t>•  Details / Links of the reference and research 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29844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1.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Problem Statement: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SIH26171 — On-device Visual Perception for Light-weight Browser Agents. Client-side ViT or equivalent CV model, local PII redaction before any network request.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17904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https://sih.gov.in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2.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Chrome Extensions — Manifest V3: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Platform, permissions, service workers and offscreen documents used to isolate the vault from the page.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39696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https://developer.chrome.com/docs/extensions/develop/migrate   https://developer.chrome.com/docs/extensions/reference/api/offscreen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542032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3.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WebGPU &amp; ONNX Runtime Web: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Browser GPU compute and the runtime that executes our model on-device, with a WASM + SIMD fallback path.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61488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https://www.w3.org/TR/webgpu/   https://onnxruntime.ai/docs/tutorials/web/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163824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4.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UltraFace RFB-320 — ONNX Model Zoo: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The 1.2 MB face-detection CNN we ship and run inside the browser; verified input/output contract.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https://github.com/onnx/models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85616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5.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Open-Weights Server Models: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Llama-3.2-Vision and Qwen2.5-VL served through vLLM or Ollama — offline deployable, as the PS requires.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005072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https://huggingface.co   https://docs.vllm.ai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0740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6.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Identity Checksums: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Verhoeff for Aadhaar and Luhn (ISO/IEC 7812) for cards — how we keep PII precision high while recall stays at 1.000.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626864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https://uidai.gov.in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029200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7.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DPDP Act 2023 &amp; NIST SP 800-132: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Data minimisation obligations, and the PBKDF2 guidance behind our 310,000-iteration key derivation.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48656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https://www.meity.gov.in   https://csrc.nist.gov/pubs/sp/800/132/final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650992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u="none">
                <a:solidFill>
                  <a:srgbClr val="000000"/>
                </a:solidFill>
                <a:latin typeface="Calibri"/>
              </a:rPr>
              <a:t>8. </a:t>
            </a:r>
            <a:r>
              <a:rPr sz="1000" b="1" u="sng">
                <a:solidFill>
                  <a:srgbClr val="15803D"/>
                </a:solidFill>
                <a:latin typeface="Calibri"/>
              </a:rPr>
              <a:t>W3C Accessible Name Computation:</a:t>
            </a:r>
            <a:r>
              <a:rPr sz="1000" b="0" u="none">
                <a:solidFill>
                  <a:srgbClr val="1A1A1A"/>
                </a:solidFill>
                <a:latin typeface="Calibri"/>
              </a:rPr>
              <a:t>  How we derive the human label of every control, which makes the ScreenGraph stable across site redesigns.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870448"/>
            <a:ext cx="10424160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u="sng">
                <a:solidFill>
                  <a:srgbClr val="0563C1"/>
                </a:solidFill>
                <a:latin typeface="Calibri"/>
              </a:rPr>
              <a:t>https://www.w3.org/TR/accname-1.2/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