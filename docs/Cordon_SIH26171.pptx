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141732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spc="200">
                <a:solidFill>
                  <a:srgbClr val="E39A57"/>
                </a:solidFill>
                <a:latin typeface="Segoe UI"/>
              </a:rPr>
              <a:t>SMART INDIA HACKATHON  ·  PROBLEM STATEMENT SIH26171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7" y="1874519"/>
            <a:ext cx="10874959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E6ECED"/>
                </a:solidFill>
                <a:latin typeface="Segoe UI"/>
              </a:rPr>
              <a:t>Cordon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880360"/>
            <a:ext cx="84124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4CC5D0"/>
                </a:solidFill>
                <a:latin typeface="Segoe UI"/>
              </a:rPr>
              <a:t>On-device visual perception for light-weight browser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61188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3C0C3"/>
                </a:solidFill>
                <a:latin typeface="Segoe UI"/>
              </a:rPr>
              <a:t>A browser extension where a local vision model reads the screen and decides — escalating to a server-side VLM only when it must, and never sending a pixel, a password, or a name when it does.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7" y="4709160"/>
            <a:ext cx="1920240" cy="402336"/>
          </a:xfrm>
          <a:prstGeom prst="roundRect">
            <a:avLst>
              <a:gd name="adj" fmla="val 30000"/>
            </a:avLst>
          </a:prstGeom>
          <a:solidFill>
            <a:srgbClr val="11292B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4709160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4CC5D0"/>
                </a:solidFill>
                <a:latin typeface="Segoe UI"/>
              </a:rPr>
              <a:t>LOCAL 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4709160"/>
            <a:ext cx="1920240" cy="402336"/>
          </a:xfrm>
          <a:prstGeom prst="roundRect">
            <a:avLst>
              <a:gd name="adj" fmla="val 30000"/>
            </a:avLst>
          </a:prstGeom>
          <a:solidFill>
            <a:srgbClr val="2E2011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4709160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E39A57"/>
                </a:solidFill>
                <a:latin typeface="Segoe UI"/>
              </a:rPr>
              <a:t>PRIVACY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4709160"/>
            <a:ext cx="1920240" cy="402336"/>
          </a:xfrm>
          <a:prstGeom prst="roundRect">
            <a:avLst>
              <a:gd name="adj" fmla="val 30000"/>
            </a:avLst>
          </a:prstGeom>
          <a:solidFill>
            <a:srgbClr val="1E1B3A"/>
          </a:solidFill>
          <a:ln w="12700">
            <a:solidFill>
              <a:srgbClr val="9B9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4709160"/>
            <a:ext cx="1920240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spc="120">
                <a:solidFill>
                  <a:srgbClr val="9B93F5"/>
                </a:solidFill>
                <a:latin typeface="Segoe UI"/>
              </a:rPr>
              <a:t>SERVER VLM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580644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E8E92"/>
                </a:solidFill>
                <a:latin typeface="Segoe UI"/>
              </a:rPr>
              <a:t>Team  ·  &lt;your team name&gt;          Institution  ·  &lt;your college&gt;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Agents need to see your screen. Servers should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B3C0C3"/>
                </a:solidFill>
                <a:latin typeface="Segoe UI"/>
              </a:rPr>
              <a:t>An agentic pipeline with access to your visual context and screen state can automate genuinely complex workflows. Almost all of them run server-side — which caps what a user is willing to share with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660904"/>
            <a:ext cx="41148" cy="1444751"/>
          </a:xfrm>
          <a:prstGeom prst="rect">
            <a:avLst/>
          </a:prstGeom>
          <a:solidFill>
            <a:srgbClr val="F0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29443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F08A7E"/>
                </a:solidFill>
                <a:latin typeface="Consolas"/>
              </a:rPr>
              <a:t>THE STATUS QUO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53512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CED"/>
                </a:solidFill>
                <a:latin typeface="Segoe UI"/>
              </a:rPr>
              <a:t>Server-side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64408"/>
            <a:ext cx="2944368" cy="841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To reason about your screen they must receive your screen. Passwords, faces, IDs, account numbers — all uploaded. That ceiling on trust is what limits the tasks people will hand to an agent.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251460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2660904"/>
            <a:ext cx="41148" cy="1444751"/>
          </a:xfrm>
          <a:prstGeom prst="rect">
            <a:avLst/>
          </a:prstGeom>
          <a:solidFill>
            <a:srgbClr val="F0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697480"/>
            <a:ext cx="29443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F08A7E"/>
                </a:solidFill>
                <a:latin typeface="Consolas"/>
              </a:rPr>
              <a:t>THE OBVIOUS FIX FAILS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53512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CED"/>
                </a:solidFill>
                <a:latin typeface="Segoe UI"/>
              </a:rPr>
              <a:t>Fully local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264408"/>
            <a:ext cx="2944368" cy="841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Your machine has far fewer resources than a server and cannot host a full reasoning pipeline. A model small enough to run in a browser tab cannot plan a multi-step task on its 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82128" y="251460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82128" y="2660904"/>
            <a:ext cx="41148" cy="1444751"/>
          </a:xfrm>
          <a:prstGeom prst="rect">
            <a:avLst/>
          </a:prstGeom>
          <a:solidFill>
            <a:srgbClr val="5FC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697480"/>
            <a:ext cx="29443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5FC08F"/>
                </a:solidFill>
                <a:latin typeface="Consolas"/>
              </a:rPr>
              <a:t>WHAT THE PS ASKS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53512"/>
            <a:ext cx="29443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E6ECED"/>
                </a:solidFill>
                <a:latin typeface="Segoe UI"/>
              </a:rPr>
              <a:t>The bridge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264408"/>
            <a:ext cx="2944368" cy="841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Keep perception and privacy enforcement on the device. Send only non-sensitive structure — screen layout, application fields — to the server for the reasoning it is actually needed for.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17720"/>
            <a:ext cx="10874959" cy="960120"/>
          </a:xfrm>
          <a:prstGeom prst="roundRect">
            <a:avLst>
              <a:gd name="adj" fmla="val 6000"/>
            </a:avLst>
          </a:prstGeom>
          <a:solidFill>
            <a:srgbClr val="1D2528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7" y="4773168"/>
            <a:ext cx="10234879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spc="160">
                <a:solidFill>
                  <a:srgbClr val="E39A57"/>
                </a:solidFill>
                <a:latin typeface="Segoe UI"/>
              </a:rPr>
              <a:t>WHY NOW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3C0C3"/>
                </a:solidFill>
                <a:latin typeface="Segoe UI"/>
              </a:rPr>
              <a:t>WebGPU and WebAssembly, plus ONNX Runtime Web and Transformers.js, now make it practical to run real vision models inside a browser tab. The client can finally see for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Cordon — a privacy boundary with a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B3C0C3"/>
                </a:solidFill>
                <a:latin typeface="Segoe UI"/>
              </a:rPr>
              <a:t>Two ideas carry the entire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4884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295144"/>
            <a:ext cx="41148" cy="1810511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4CC5D0"/>
                </a:solidFill>
                <a:latin typeface="Consolas"/>
              </a:rPr>
              <a:t>IDEA 1  ·  LOCAL-FIRST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CED"/>
                </a:solidFill>
                <a:latin typeface="Segoe UI"/>
              </a:rPr>
              <a:t>The server is an escalation path, not a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8648"/>
            <a:ext cx="4663440" cy="1207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A local Router decides whether the task can be resolved on device. "Click the button labelled Submit" needs no server at all — it executes in milliseconds with zero network. Only ambiguity, planning and language judgement escalate.
This is the PS's own wording: the local model reads the screen and takes the decision; the server is engaged if it is required.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2148840"/>
            <a:ext cx="5230368" cy="2103120"/>
          </a:xfrm>
          <a:prstGeom prst="roundRect">
            <a:avLst>
              <a:gd name="adj" fmla="val 6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2295144"/>
            <a:ext cx="41148" cy="1810511"/>
          </a:xfrm>
          <a:prstGeom prst="rect">
            <a:avLst/>
          </a:prstGeom>
          <a:solidFill>
            <a:srgbClr val="9B9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9B93F5"/>
                </a:solidFill>
                <a:latin typeface="Consolas"/>
              </a:rPr>
              <a:t>IDEA 2  ·  SAFE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87752"/>
            <a:ext cx="47731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6ECED"/>
                </a:solidFill>
                <a:latin typeface="Segoe UI"/>
              </a:rPr>
              <a:t>Substitution, so the server reasons without seeing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98648"/>
            <a:ext cx="4773168" cy="1207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The client holds a vault mapping typed handles to real values. The server receives EMAIL_1, reasons about EMAIL_1, and returns actions written in EMAIL_1. The client resolves it locally at the last moment.
The PS requires the server be aware of the redaction scheme — this handle grammar is that scheme, versioned and supplied in the system prompt.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26280"/>
            <a:ext cx="10874959" cy="1097280"/>
          </a:xfrm>
          <a:prstGeom prst="roundRect">
            <a:avLst>
              <a:gd name="adj" fmla="val 5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64515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50">
                <a:solidFill>
                  <a:srgbClr val="4CC5D0"/>
                </a:solidFill>
                <a:latin typeface="Segoe UI"/>
              </a:rPr>
              <a:t>STAYS ON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464515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50">
                <a:solidFill>
                  <a:srgbClr val="E39A57"/>
                </a:solidFill>
                <a:latin typeface="Segoe UI"/>
              </a:rPr>
              <a:t>CROSSES THE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91947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Consolas"/>
              </a:rPr>
              <a:t>srikar@gmail.com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7" y="491947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491947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ED"/>
                </a:solidFill>
                <a:latin typeface="Consolas"/>
              </a:rPr>
              <a:t>EMAIL_1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10235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Consolas"/>
              </a:rPr>
              <a:t>"Hunter2!"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7" y="510235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510235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ED"/>
                </a:solidFill>
                <a:latin typeface="Consolas"/>
              </a:rPr>
              <a:t>never read at 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28523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Consolas"/>
              </a:rPr>
              <a:t>1920×1080 screenshot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9007" y="528523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7" y="528523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ED"/>
                </a:solidFill>
                <a:latin typeface="Consolas"/>
              </a:rPr>
              <a:t>768px, faces masked, opt-in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546811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Consolas"/>
              </a:rPr>
              <a:t>&lt;input id="user_email"&gt;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7" y="546811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7" y="546811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ED"/>
                </a:solidFill>
                <a:latin typeface="Consolas"/>
              </a:rPr>
              <a:t>{id: el_12, holds: EMAIL_1}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Eleven steps,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C5D0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645920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User gives a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1865376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"Log in and download my invoice"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28600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C5D0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23042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Read the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2523744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DOM + accessibility tree + screenshot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4436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443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C5D0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2962656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Local ViT understands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182111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what each element is and means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02735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027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9A57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3621023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Can I do this myself?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5" y="3840479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if yes → jump to step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61103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26110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C5D0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5" y="4279391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Find everything private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5" y="4498847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passwords, emails, names, faces, IDs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19471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9194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C5D0"/>
                </a:solidFill>
                <a:latin typeface="Segoe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5" y="4937759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Hide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5295" y="5157215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drop · substitute · mask — reals go to the vault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16276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4768" y="16276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9A57"/>
                </a:solidFill>
                <a:latin typeface="Segoe U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1645920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Verify nothing leaked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1865376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independent gate, can veto the send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228600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9B9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228600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B93F5"/>
                </a:solidFill>
                <a:latin typeface="Segoe U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1696" y="23042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Send the safe 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2523744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structure + handles 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4768" y="2944368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9B9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29443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B93F5"/>
                </a:solidFill>
                <a:latin typeface="Segoe U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1696" y="2962656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Server reasons and replies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1696" y="3182111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"type EMAIL_1 into el_12"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3602735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36027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C5D0"/>
                </a:solidFill>
                <a:latin typeface="Segoe U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1696" y="3621023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Resolve + safety-check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1696" y="3840479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vault lookup, sink check, grounding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4261103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44768" y="426110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C5D0"/>
                </a:solidFill>
                <a:latin typeface="Segoe U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11696" y="4279391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Execute in the browser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11696" y="4498847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then verify it actually worked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4919471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4919471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C5D0"/>
                </a:solidFill>
                <a:latin typeface="Segoe UI"/>
              </a:rPr>
              <a:t>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1696" y="4937759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Loop until done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11696" y="5157215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E8E92"/>
                </a:solidFill>
                <a:latin typeface="Segoe UI"/>
              </a:rPr>
              <a:t>re-analyse only what changed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5742432"/>
            <a:ext cx="10874959" cy="457200"/>
          </a:xfrm>
          <a:prstGeom prst="roundRect">
            <a:avLst>
              <a:gd name="adj" fmla="val 20000"/>
            </a:avLst>
          </a:prstGeom>
          <a:solidFill>
            <a:srgbClr val="2E2011"/>
          </a:solidFill>
          <a:ln w="952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" y="5742432"/>
            <a:ext cx="10326319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9A57"/>
                </a:solidFill>
                <a:latin typeface="Segoe UI"/>
              </a:rPr>
              <a:t>Step 3 is worth 25% of the marks.   Step 4 is why we are fast — if it answers yes, steps 5 to 9 never happen.   Step 7 is the promise.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Client · boundary ·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4709160" cy="3977639"/>
          </a:xfrm>
          <a:prstGeom prst="roundRect">
            <a:avLst>
              <a:gd name="adj" fmla="val 4000"/>
            </a:avLst>
          </a:prstGeom>
          <a:solidFill>
            <a:srgbClr val="11292B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50">
                <a:solidFill>
                  <a:srgbClr val="4CC5D0"/>
                </a:solidFill>
                <a:latin typeface="Segoe UI"/>
              </a:rPr>
              <a:t>ON DEVICE — TRUSTED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03120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1 ·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22576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DOM + accessibility tree + 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2 · Perceive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871215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coverage map → detector → ViT-Tiny → ScreenGraph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00400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3 ·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19856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resolvable locally? most steps stop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749039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4 · Detect PII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968496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DOM rules · regex+checksum · NER · vision+OCR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297679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5 · Redact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517136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drop · substitute · tight bbox mask · vault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46319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6 ·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065775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independent gate — V1 to V6, has a veto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14416" y="1572768"/>
            <a:ext cx="960120" cy="3977639"/>
          </a:xfrm>
          <a:prstGeom prst="roundRect">
            <a:avLst>
              <a:gd name="adj" fmla="val 4000"/>
            </a:avLst>
          </a:prstGeom>
          <a:solidFill>
            <a:srgbClr val="2E2011"/>
          </a:solidFill>
          <a:ln w="1587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4416" y="1572768"/>
            <a:ext cx="960120" cy="397763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39A57"/>
                </a:solidFill>
                <a:latin typeface="Segoe UI"/>
              </a:rPr>
              <a:t>PRIVACY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000" b="1">
                <a:solidFill>
                  <a:srgbClr val="E39A57"/>
                </a:solidFill>
                <a:latin typeface="Segoe UI"/>
              </a:rPr>
              <a:t>BOUNDARY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E39A57"/>
                </a:solidFill>
                <a:latin typeface="Segoe UI"/>
              </a:rPr>
              <a:t>→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950" b="0">
                <a:solidFill>
                  <a:srgbClr val="E39A57"/>
                </a:solidFill>
                <a:latin typeface="Segoe UI"/>
              </a:rPr>
              <a:t>structure
+ handles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E39A57"/>
                </a:solidFill>
                <a:latin typeface="Segoe UI"/>
              </a:rPr>
              <a:t>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39A57"/>
                </a:solidFill>
                <a:latin typeface="Segoe UI"/>
              </a:rPr>
              <a:t>one action
in handles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03136" y="1572768"/>
            <a:ext cx="4480560" cy="3977639"/>
          </a:xfrm>
          <a:prstGeom prst="roundRect">
            <a:avLst>
              <a:gd name="adj" fmla="val 4000"/>
            </a:avLst>
          </a:prstGeom>
          <a:solidFill>
            <a:srgbClr val="1E1B3A"/>
          </a:solidFill>
          <a:ln w="12700">
            <a:solidFill>
              <a:srgbClr val="9B9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31736" y="17190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9B93F5"/>
                </a:solidFill>
                <a:latin typeface="Segoe UI"/>
              </a:rPr>
              <a:t>SERVER — NEVER TRUSTED WITH RAW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2103120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7 · 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1736" y="2322576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open-weights VLM, redaction grammar in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1736" y="2651760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8 · Constrain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1736" y="2871215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guided JSON decoding, schema-enforced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3200400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9 · Guard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6" y="3419856"/>
            <a:ext cx="4023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reject any literal that looks like PII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31736" y="3858768"/>
            <a:ext cx="4023360" cy="10972"/>
          </a:xfrm>
          <a:prstGeom prst="rect">
            <a:avLst/>
          </a:prstGeom>
          <a:solidFill>
            <a:srgbClr val="9B9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1736" y="4005072"/>
            <a:ext cx="4023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spc="140">
                <a:solidFill>
                  <a:srgbClr val="9B93F5"/>
                </a:solidFill>
                <a:latin typeface="Segoe UI"/>
              </a:rPr>
              <a:t>RETURNS ONE OF FOUR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3C0C3"/>
                </a:solidFill>
                <a:latin typeface="Consolas"/>
              </a:rPr>
              <a:t>action   →  click / fill / scroll / navigate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3C0C3"/>
                </a:solidFill>
                <a:latin typeface="Consolas"/>
              </a:rPr>
              <a:t>data     →  processed answer for the client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3C0C3"/>
                </a:solidFill>
                <a:latin typeface="Consolas"/>
              </a:rPr>
              <a:t>plan     →  up to 3 steps to run locally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Consolas"/>
              </a:rPr>
              <a:t>ask_user →  ambiguity the user must settle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687568"/>
            <a:ext cx="10874959" cy="502920"/>
          </a:xfrm>
          <a:prstGeom prst="roundRect">
            <a:avLst>
              <a:gd name="adj" fmla="val 18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687568"/>
            <a:ext cx="10326319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C5D0"/>
                </a:solidFill>
                <a:latin typeface="Segoe UI"/>
              </a:rPr>
              <a:t>Back on device:  resolve handle  →  sink + policy check  →  ground against live DOM  →  execute  →  verify post-condition  → 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CLIENT COMPONENT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Local vision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01607" y="457200"/>
            <a:ext cx="2331720" cy="384048"/>
          </a:xfrm>
          <a:prstGeom prst="roundRect">
            <a:avLst>
              <a:gd name="adj" fmla="val 28000"/>
            </a:avLst>
          </a:prstGeom>
          <a:solidFill>
            <a:srgbClr val="2E2011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607" y="457200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METRIC 1  ·  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3C0C3"/>
                </a:solidFill>
                <a:latin typeface="Segoe UI"/>
              </a:rPr>
              <a:t>The PS's largest metric is accuracy of visual context. Our output is not a caption of the screen — it is a structured, grounded ScreenGraph.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67712"/>
            <a:ext cx="4937760" cy="1371600"/>
          </a:xfrm>
          <a:prstGeom prst="roundRect">
            <a:avLst>
              <a:gd name="adj" fmla="val 6000"/>
            </a:avLst>
          </a:prstGeom>
          <a:solidFill>
            <a:srgbClr val="1D2528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spc="150">
                <a:solidFill>
                  <a:srgbClr val="4CC5D0"/>
                </a:solidFill>
                <a:latin typeface="Segoe UI"/>
              </a:rPr>
              <a:t>SCREENGRAPH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3C0C3"/>
                </a:solidFill>
                <a:latin typeface="Consolas"/>
              </a:rPr>
              <a:t>elements[]     id · role · name · bbox · state · conf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B3C0C3"/>
                </a:solidFill>
                <a:latin typeface="Consolas"/>
              </a:rPr>
              <a:t>groups[]       form | nav | modal | table | card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Consolas"/>
              </a:rPr>
              <a:t>reading_order  focus  viewport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2267712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70448" y="2414016"/>
            <a:ext cx="41148" cy="1078992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450592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4CC5D0"/>
                </a:solidFill>
                <a:latin typeface="Consolas"/>
              </a:rPr>
              <a:t>CHANNEL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70662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DOM + AX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214884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Role, name, type, state. Near-certain, ~0 ms. Blind to canvas, images, custom widgets.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9368" y="2267712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59368" y="2414016"/>
            <a:ext cx="41148" cy="1078992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450592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60">
                <a:solidFill>
                  <a:srgbClr val="4CC5D0"/>
                </a:solidFill>
                <a:latin typeface="Consolas"/>
              </a:rPr>
              <a:t>CHANNEL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70662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Detector + ViT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14884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Sees what is actually rendered. Authoritative inside canvas and images.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822191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50">
                <a:solidFill>
                  <a:srgbClr val="E39A57"/>
                </a:solidFill>
                <a:latin typeface="Segoe UI"/>
              </a:rPr>
              <a:t>FUSION — MATCH BY IoU, THEN ARBITRATE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133087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3C0C3"/>
                </a:solidFill>
                <a:latin typeface="Segoe UI"/>
              </a:rPr>
              <a:t>Both agree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4133087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confidence 1.0 — the common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517136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9A57"/>
                </a:solidFill>
                <a:latin typeface="Segoe UI"/>
              </a:rPr>
              <a:t>DOM only, no pixels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517136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visible: false — occluded or offscreen. Stops the agent clicking a node that is not on screen.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901183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B93F5"/>
                </a:solidFill>
                <a:latin typeface="Segoe UI"/>
              </a:rPr>
              <a:t>Vision only, no DOM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4901183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virtual element — canvas app or custom widget. Vision is authoritative.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285231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3C0C3"/>
                </a:solidFill>
                <a:latin typeface="Segoe UI"/>
              </a:rPr>
              <a:t>Role conflict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5285231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DOM wins for input/button/link; vision wins inside canvas or image.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24144"/>
            <a:ext cx="10874959" cy="457200"/>
          </a:xfrm>
          <a:prstGeom prst="roundRect">
            <a:avLst>
              <a:gd name="adj" fmla="val 20000"/>
            </a:avLst>
          </a:prstGeom>
          <a:solidFill>
            <a:srgbClr val="161C1F"/>
          </a:solidFill>
          <a:ln w="9525">
            <a:solidFill>
              <a:srgbClr val="5FC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724144"/>
            <a:ext cx="10326319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C08F"/>
                </a:solidFill>
                <a:latin typeface="Segoe UI"/>
              </a:rPr>
              <a:t>MEASURED, NOT CLAIMED:   element P/R/F1 at IoU ≥ 0.5   ·   role accuracy   ·   mean bbox IoU   ·   task-relevant hit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CLIENT COMPONENT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Coverage-guided vision — why we stay light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01607" y="457200"/>
            <a:ext cx="2331720" cy="384048"/>
          </a:xfrm>
          <a:prstGeom prst="roundRect">
            <a:avLst>
              <a:gd name="adj" fmla="val 28000"/>
            </a:avLst>
          </a:prstGeom>
          <a:solidFill>
            <a:srgbClr val="2E2011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607" y="457200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METRIC 4  ·  20%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3C0C3"/>
                </a:solidFill>
                <a:latin typeface="Segoe UI"/>
              </a:rPr>
              <a:t>Running a vision model over every frame loses the resource metric outright. So we run it only where the DOM cannot already answer the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31720"/>
            <a:ext cx="2103120" cy="685800"/>
          </a:xfrm>
          <a:prstGeom prst="roundRect">
            <a:avLst>
              <a:gd name="adj" fmla="val 12000"/>
            </a:avLst>
          </a:prstGeom>
          <a:solidFill>
            <a:srgbClr val="161C1F"/>
          </a:solidFill>
          <a:ln w="12700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2331720"/>
            <a:ext cx="1956815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Viewport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8E92"/>
                </a:solidFill>
                <a:latin typeface="Segoe UI"/>
              </a:rPr>
              <a:t>current 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4871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E8E92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7" y="23317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161C1F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2331720"/>
            <a:ext cx="2231136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Coverage map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8E92"/>
                </a:solidFill>
                <a:latin typeface="Segoe UI"/>
              </a:rPr>
              <a:t>rasterise known bboxes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4871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E8E92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201168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61C1F"/>
          </a:solidFill>
          <a:ln w="12700">
            <a:solidFill>
              <a:srgbClr val="4CC5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2368296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Explained pixels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8E92"/>
                </a:solidFill>
                <a:latin typeface="Segoe UI"/>
              </a:rPr>
              <a:t>DOM is authoritative · 0 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53328" y="283464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161C1F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834640"/>
            <a:ext cx="2368296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Unexplained pixels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8E92"/>
                </a:solidFill>
                <a:latin typeface="Segoe UI"/>
              </a:rPr>
              <a:t>img · canvas · svg · iframe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0175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E8E92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2834640"/>
            <a:ext cx="2240280" cy="685800"/>
          </a:xfrm>
          <a:prstGeom prst="roundRect">
            <a:avLst>
              <a:gd name="adj" fmla="val 12000"/>
            </a:avLst>
          </a:prstGeom>
          <a:solidFill>
            <a:srgbClr val="161C1F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834640"/>
            <a:ext cx="2093976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5–20 crops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E8E92"/>
                </a:solidFill>
                <a:latin typeface="Segoe UI"/>
              </a:rPr>
              <a:t>not a full frame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3991356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86200"/>
            <a:ext cx="47731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Two-stage cascade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47731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A ~1 MB int8 detector proposes; a ViT-Tiny classifies 224px crops, batched on WebGPU.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4631436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26280"/>
            <a:ext cx="47731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Delta re-perception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47731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MutationObserver marks dirty subtrees. A step after a click re-analyses what changed.</a:t>
            </a:r>
          </a:p>
        </p:txBody>
      </p:sp>
      <p:sp>
        <p:nvSpPr>
          <p:cNvPr id="30" name="Oval 29"/>
          <p:cNvSpPr/>
          <p:nvPr/>
        </p:nvSpPr>
        <p:spPr>
          <a:xfrm>
            <a:off x="6144768" y="3991356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886200"/>
            <a:ext cx="486460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Caching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16052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Subtree hash → classification. Crop hash → vision result. Repeat frames cost almost nothing.</a:t>
            </a:r>
          </a:p>
        </p:txBody>
      </p:sp>
      <p:sp>
        <p:nvSpPr>
          <p:cNvPr id="33" name="Oval 32"/>
          <p:cNvSpPr/>
          <p:nvPr/>
        </p:nvSpPr>
        <p:spPr>
          <a:xfrm>
            <a:off x="6144768" y="4631436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526280"/>
            <a:ext cx="486460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WebGPU with a real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0060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ONNX Runtime Web on WebGPU; WASM + SIMD + threads where WebGPU is absent.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724144"/>
            <a:ext cx="10874959" cy="457200"/>
          </a:xfrm>
          <a:prstGeom prst="roundRect">
            <a:avLst>
              <a:gd name="adj" fmla="val 20000"/>
            </a:avLst>
          </a:prstGeom>
          <a:solidFill>
            <a:srgbClr val="2E2011"/>
          </a:solidFill>
          <a:ln w="952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724144"/>
            <a:ext cx="10326319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9A57"/>
                </a:solidFill>
                <a:latin typeface="Segoe UI"/>
              </a:rPr>
              <a:t>This is also the honest answer to "if you have a ViT, why do you need the DOM?" — they answer different questions, at different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CLIENT COMPONENT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Privacy filter —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01607" y="457200"/>
            <a:ext cx="2331720" cy="384048"/>
          </a:xfrm>
          <a:prstGeom prst="roundRect">
            <a:avLst>
              <a:gd name="adj" fmla="val 28000"/>
            </a:avLst>
          </a:prstGeom>
          <a:solidFill>
            <a:srgbClr val="2E2011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607" y="457200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METRIC 2  ·  20%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3C0C3"/>
                </a:solidFill>
                <a:latin typeface="Segoe UI"/>
              </a:rPr>
              <a:t>The metric grades recall AND precision. Redacting everything ambiguous would score well on recall and destroy the other half — so detection is calibrated, not paranoid.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286000"/>
            <a:ext cx="5394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FINDS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28600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228600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CONFIDENCE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78608"/>
            <a:ext cx="10515600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06624"/>
            <a:ext cx="214884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DOM &amp; AX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706624"/>
            <a:ext cx="52578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type=password · autocomplete tokens · label and aria keyword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706624"/>
            <a:ext cx="132588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~0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2706624"/>
            <a:ext cx="123444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CC5D0"/>
                </a:solidFill>
                <a:latin typeface="Segoe UI"/>
              </a:rPr>
              <a:t>0.95 – 1.0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54096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214884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Regex + checksum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3127248"/>
            <a:ext cx="52578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email · phone · Aadhaar (Verhoeff) · PAN · card (Luhn) · IFSC · UPI ·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127248"/>
            <a:ext cx="132588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~1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3127248"/>
            <a:ext cx="123444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CC5D0"/>
                </a:solidFill>
                <a:latin typeface="Segoe UI"/>
              </a:rPr>
              <a:t>0.55 – 0.98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474720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47872"/>
            <a:ext cx="214884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Local 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3547872"/>
            <a:ext cx="52578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PERSON · LOCATION · ORG in free text the rules missed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547872"/>
            <a:ext cx="132588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~15 ms/chunk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3547872"/>
            <a:ext cx="123444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CC5D0"/>
                </a:solidFill>
                <a:latin typeface="Segoe UI"/>
              </a:rPr>
              <a:t>0.5 – 0.9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895344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968496"/>
            <a:ext cx="214884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Vision + OCR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4368" y="3968496"/>
            <a:ext cx="525780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faces · ID cards · signatures · QR · text baked into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3968496"/>
            <a:ext cx="132588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~30 ms/step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3968496"/>
            <a:ext cx="1234440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CC5D0"/>
                </a:solidFill>
                <a:latin typeface="Segoe UI"/>
              </a:rPr>
              <a:t>0.5 – 0.95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315968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" y="4279392"/>
            <a:ext cx="5029200" cy="1325880"/>
          </a:xfrm>
          <a:prstGeom prst="roundRect">
            <a:avLst>
              <a:gd name="adj" fmla="val 6000"/>
            </a:avLst>
          </a:prstGeom>
          <a:solidFill>
            <a:srgbClr val="1D2528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07408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spc="130">
                <a:solidFill>
                  <a:srgbClr val="E39A57"/>
                </a:solidFill>
                <a:latin typeface="Segoe UI"/>
              </a:rPr>
              <a:t>FUSION — NOISY-OR, TWO THRESHOLDS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6ECED"/>
                </a:solidFill>
                <a:latin typeface="Consolas"/>
              </a:rPr>
              <a:t>p = 1 − Π(1 − pᵢ)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B3C0C3"/>
                </a:solidFill>
                <a:latin typeface="Consolas"/>
              </a:rPr>
              <a:t>p ≥ 0.80          → redact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E39A57"/>
                </a:solidFill>
                <a:latin typeface="Consolas"/>
              </a:rPr>
              <a:t>0.35 ≤ p &lt; 0.80   → context tie-break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Consolas"/>
              </a:rPr>
              <a:t>p &lt; 0.35          → keep verbatim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427939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30">
                <a:solidFill>
                  <a:srgbClr val="E39A57"/>
                </a:solidFill>
                <a:latin typeface="Segoe UI"/>
              </a:rPr>
              <a:t>THE TIE-BREAK IS WHERE PRECISION IS WON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4572000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Label proximity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3328" y="4773168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"Order number: 1234567890" vs "Phone: 9876543210" — identical to a regex, not to a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3328" y="4974336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Checksum outcome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5175504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12 digits failing Verhoeff is not an Aadhaar. Hard negative evidence.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5376672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Container &amp; repetition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3328" y="5577840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Inside a form vs. body prose. A value on 50 places is boilerplate.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CLIENT COMPONENT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Privacy filter — redaction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01607" y="457200"/>
            <a:ext cx="2331720" cy="384048"/>
          </a:xfrm>
          <a:prstGeom prst="roundRect">
            <a:avLst>
              <a:gd name="adj" fmla="val 28000"/>
            </a:avLst>
          </a:prstGeom>
          <a:solidFill>
            <a:srgbClr val="2E2011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607" y="457200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METRIC 3  ·  20%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3C0C3"/>
                </a:solidFill>
                <a:latin typeface="Segoe UI"/>
              </a:rPr>
              <a:t>The metric is precision of redaction. Masking pixels that were never sensitive costs marks exactly like missing sensitive ones — so every mask is tight by construction.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86000"/>
            <a:ext cx="2606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SENSITIVE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28600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2286000"/>
            <a:ext cx="2834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WHAT THE SERVER SEES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86000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WHY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78608"/>
            <a:ext cx="10515600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0662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Password · OTP · API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70662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08A7E"/>
                </a:solidFill>
                <a:latin typeface="Segoe UI"/>
              </a:rPr>
              <a:t>Remove completely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270662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sensitive: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06624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Value never read into the payload — absent, not masked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9067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6382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Email · Phone ·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316382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CC5D0"/>
                </a:solidFill>
                <a:latin typeface="Segoe UI"/>
              </a:rPr>
              <a:t>Semantic obfuscation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316382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EMAIL_1  PHONE_1  PERSON_2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163824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Model keeps the meaning of the field without the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54787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62102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Card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362102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CC5D0"/>
                </a:solidFill>
                <a:latin typeface="Segoe UI"/>
              </a:rPr>
              <a:t>Semantic obfuscation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362102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CARD_1 — no last-4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621024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Last-4 is still identifying, so it is not preserved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00507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7822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Face · ID card · signature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407822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9B93F5"/>
                </a:solidFill>
                <a:latin typeface="Segoe UI"/>
              </a:rPr>
              <a:t>Bounding-box masking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407822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solid fill + class + 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078224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Solid, not blur — blur and pixelation are recoverable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46227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535424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6ECED"/>
                </a:solidFill>
                <a:latin typeface="Segoe UI"/>
              </a:rPr>
              <a:t>Buttons · links · layout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" y="453542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E8E92"/>
                </a:solidFill>
                <a:latin typeface="Segoe UI"/>
              </a:rPr>
              <a:t>No redaction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4535424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verbatim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4535424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The agent cannot operate without them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91947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" y="4956048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D2528"/>
          </a:solidFill>
          <a:ln w="9525">
            <a:solidFill>
              <a:srgbClr val="5FC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84064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spc="140">
                <a:solidFill>
                  <a:srgbClr val="5FC08F"/>
                </a:solidFill>
                <a:latin typeface="Segoe UI"/>
              </a:rPr>
              <a:t>TIGHT BY CONSTRUCTION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Text  →  Range.getClientRects() over the matched substring only. Mask the eleven characters of the email, not the paragraph.
Regions  →  the detector's own box + 4px. Never a whole element, never the frame.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4768" y="4956048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1D2528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084064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spc="140">
                <a:solidFill>
                  <a:srgbClr val="5FC08F"/>
                </a:solidFill>
                <a:latin typeface="Segoe UI"/>
              </a:rPr>
              <a:t>MEASURED ON A LABELLED SET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Mask IoU against ground truth   ·   over-redaction rate, the share of safe pixels and characters masked   ·   leak rate, the share of sensitive content left exposed.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Only anonymized, unidentifiable data is transmitted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3C0C3"/>
                </a:solidFill>
                <a:latin typeface="Segoe UI"/>
              </a:rPr>
              <a:t>The redactor could have a bug. So a second component, sharing no code with it, inspects the serialised payload immediately before fetch — and can veto the send.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0280"/>
            <a:ext cx="475488" cy="384048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5FC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40280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C08F"/>
                </a:solidFill>
                <a:latin typeface="Consolas"/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4942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Re-scan the bytes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871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Full regex + checksum battery over the outgoing JSON string itself, not the object the redactor built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2240280"/>
            <a:ext cx="475488" cy="384048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5FC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240280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C08F"/>
                </a:solidFill>
                <a:latin typeface="Consolas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4942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Vault cross-check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48716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No vault plaintext appears anywhere in the payload — including URLs, alt text and class names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64408"/>
            <a:ext cx="475488" cy="384048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5FC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64408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C08F"/>
                </a:solidFill>
                <a:latin typeface="Consolas"/>
              </a:rPr>
              <a:t>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73552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Re-detect on the masked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1129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Run the face detector on the redacted bitmap. Still finds a face? A mask failed to paint. Fail.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8" y="3264408"/>
            <a:ext cx="475488" cy="384048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5FC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3264408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C08F"/>
                </a:solidFill>
                <a:latin typeface="Consolas"/>
              </a:rPr>
              <a:t>V4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73552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Entropy sweep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51129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Any high-entropy string over 20 characters that is not a known handle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288536"/>
            <a:ext cx="475488" cy="384048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5FC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288536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C08F"/>
                </a:solidFill>
                <a:latin typeface="Consolas"/>
              </a:rPr>
              <a:t>V5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2976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Deny-by-default serialiser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3542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Only whitelisted keys reach the wire. A field added later cannot leak by being forgotten.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8" y="4288536"/>
            <a:ext cx="475488" cy="384048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12700">
            <a:solidFill>
              <a:srgbClr val="F08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9048" y="4288536"/>
            <a:ext cx="47548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08A7E"/>
                </a:solidFill>
                <a:latin typeface="Consolas"/>
              </a:rPr>
              <a:t>V6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2976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Escalate, then refuse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53542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Re-redact harder and re-verify, twice. Then abort the step and tell the user why. Never send.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41264"/>
            <a:ext cx="10874959" cy="566928"/>
          </a:xfrm>
          <a:prstGeom prst="roundRect">
            <a:avLst>
              <a:gd name="adj" fmla="val 16000"/>
            </a:avLst>
          </a:prstGeom>
          <a:solidFill>
            <a:srgbClr val="161C1F"/>
          </a:solidFill>
          <a:ln w="9525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541264"/>
            <a:ext cx="1032631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PRIVACY RECEIPT — emitted per step into the side panel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counts by class · which detector caught what · mask count · payload bytes · verifier version · payload hash.  An invisible guarantee becomes something a judge watches happen,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SERVER-SIDE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Reasoning over sanitized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3C0C3"/>
                </a:solidFill>
                <a:latin typeface="Segoe UI"/>
              </a:rPr>
              <a:t>The server is aware of the redaction scheme — the handle grammar is versioned and supplied in its system prompt, so it can interpret sanitized data and act on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86000"/>
            <a:ext cx="5120640" cy="2331720"/>
          </a:xfrm>
          <a:prstGeom prst="roundRect">
            <a:avLst>
              <a:gd name="adj" fmla="val 5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14016"/>
            <a:ext cx="466344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spc="140">
                <a:solidFill>
                  <a:srgbClr val="4CC5D0"/>
                </a:solidFill>
                <a:latin typeface="Segoe UI"/>
              </a:rPr>
              <a:t>CLIENT → SERVER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3C0C3"/>
                </a:solidFill>
                <a:latin typeface="Consolas"/>
              </a:rPr>
              <a:t>{
  "schema": "cordon/redaction@1",
  "task": "Download my latest invoice",
  "elements": [
    { "id":"el_12", "role":"textbox",
      "name":"Email", "holds":"EMAIL_1" },
    { "id":"el_13", "type":"password",
      "sensitive": true },
    { "id":"el_14", "role":"button",
      "name":"Sign in" } ],
  "image": null
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286000"/>
            <a:ext cx="5120640" cy="2331720"/>
          </a:xfrm>
          <a:prstGeom prst="roundRect">
            <a:avLst>
              <a:gd name="adj" fmla="val 5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14016"/>
            <a:ext cx="466344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spc="140">
                <a:solidFill>
                  <a:srgbClr val="9B93F5"/>
                </a:solidFill>
                <a:latin typeface="Segoe UI"/>
              </a:rPr>
              <a:t>SERVER → CLIENT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3C0C3"/>
                </a:solidFill>
                <a:latin typeface="Consolas"/>
              </a:rPr>
              <a:t>{
  "type": "action",
  "thought": "Email field is empty;
              fill before sign-in.",
  "action": {
    "kind": "fill",
    "target": "el_12",
    "value": "EMAIL_1"
  },
  "confidence": 0.91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800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30">
                <a:solidFill>
                  <a:srgbClr val="9B93F5"/>
                </a:solidFill>
                <a:latin typeface="Segoe UI"/>
              </a:rPr>
              <a:t>MODEL — OFFLINE DEPLOYABLE, PER THE 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07492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Open-weights VLM — Qwen2.5-VL-7B or Llama-3.2-11B-Vision. Cloud-hosted during SIH, deployable offline with vLLM. Guided JSON decoding enforces the schema.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4800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spc="130">
                <a:solidFill>
                  <a:srgbClr val="9B93F5"/>
                </a:solidFill>
                <a:latin typeface="Segoe UI"/>
              </a:rPr>
              <a:t>OUTPUT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507492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value must be a handle or a string the server composed itself. Anything resembling real PII in a response is rejected — a prompt-injected page cannot turn the model into an exfiltration channel.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THE TRADE-OFF THE PS ASKS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Latency against accuracy, as a visible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01607" y="457200"/>
            <a:ext cx="2331720" cy="384048"/>
          </a:xfrm>
          <a:prstGeom prst="roundRect">
            <a:avLst>
              <a:gd name="adj" fmla="val 28000"/>
            </a:avLst>
          </a:prstGeom>
          <a:solidFill>
            <a:srgbClr val="2E2011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607" y="457200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METRIC 5  ·  15%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3C0C3"/>
                </a:solidFill>
                <a:latin typeface="Segoe UI"/>
              </a:rPr>
              <a:t>"Participants must balance the trade-offs between inference latency and the accuracy."  We make that a mode the user and the judge can switch, not a hidden constant.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3172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33172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331720"/>
            <a:ext cx="4846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5248" y="233172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TYPICAL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24327"/>
            <a:ext cx="10515600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52344"/>
            <a:ext cx="224028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CC5D0"/>
                </a:solidFill>
                <a:latin typeface="Segoe UI"/>
              </a:rPr>
              <a:t>Fast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752344"/>
            <a:ext cx="1965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cached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752344"/>
            <a:ext cx="4709159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DOM/AX graph, regex + DOM PII, local routing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5248" y="2752344"/>
            <a:ext cx="132588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C08F"/>
                </a:solidFill>
                <a:latin typeface="Segoe UI"/>
              </a:rPr>
              <a:t>~15 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154679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227832"/>
            <a:ext cx="224028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CC5D0"/>
                </a:solidFill>
                <a:latin typeface="Segoe UI"/>
              </a:rPr>
              <a:t>Balanced  (default)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3227832"/>
            <a:ext cx="1965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coverage-guided, int8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227832"/>
            <a:ext cx="4709159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+ ViT on unexplained regions, NER on flagged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3227832"/>
            <a:ext cx="132588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C08F"/>
                </a:solidFill>
                <a:latin typeface="Segoe UI"/>
              </a:rPr>
              <a:t>~90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0168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03320"/>
            <a:ext cx="224028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CC5D0"/>
                </a:solidFill>
                <a:latin typeface="Segoe UI"/>
              </a:rPr>
              <a:t>Thorough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3703320"/>
            <a:ext cx="1965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full 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8928" y="3703320"/>
            <a:ext cx="4709159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+ OCR everywhere, full-frame detector sweep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3703320"/>
            <a:ext cx="132588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39A57"/>
                </a:solidFill>
                <a:latin typeface="Segoe UI"/>
              </a:rPr>
              <a:t>~350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105656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" y="4146804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41648"/>
            <a:ext cx="47731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Local-first is the real latency 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315968"/>
            <a:ext cx="47731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Most steps resolve on device with zero network. The round trip is the dominant cost, so removing it beats optimising it.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" y="4805172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700016"/>
            <a:ext cx="47731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Warm sessions, cached weights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74336"/>
            <a:ext cx="47731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Models fetched once into OPFS. ORT sessions kept alive. No cold start per step.</a:t>
            </a:r>
          </a:p>
        </p:txBody>
      </p:sp>
      <p:sp>
        <p:nvSpPr>
          <p:cNvPr id="37" name="Oval 36"/>
          <p:cNvSpPr/>
          <p:nvPr/>
        </p:nvSpPr>
        <p:spPr>
          <a:xfrm>
            <a:off x="6144768" y="4146804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041648"/>
            <a:ext cx="486460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One action per round trip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315968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Safer to ground, and lets the server return a short local plan when it is confident.</a:t>
            </a:r>
          </a:p>
        </p:txBody>
      </p:sp>
      <p:sp>
        <p:nvSpPr>
          <p:cNvPr id="40" name="Oval 39"/>
          <p:cNvSpPr/>
          <p:nvPr/>
        </p:nvSpPr>
        <p:spPr>
          <a:xfrm>
            <a:off x="6144768" y="4805172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700016"/>
            <a:ext cx="486460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Demoed at all three modes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974336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The same task run in Fast, Balanced and Thorough, with accuracy numbers beside the latency numbers, is the answer to that requirement.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Stack — and what is built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2542032" cy="3200400"/>
          </a:xfrm>
          <a:prstGeom prst="roundRect">
            <a:avLst>
              <a:gd name="adj" fmla="val 5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2542032" cy="50292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30">
                <a:solidFill>
                  <a:srgbClr val="4CC5D0"/>
                </a:solidFill>
                <a:latin typeface="Segoe UI"/>
              </a:rPr>
              <a:t>CLIENT —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957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WebExtension Manifest 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4140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8529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Chrome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8712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3101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Firefox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3284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E39A57"/>
                </a:solidFill>
                <a:latin typeface="Segoe UI"/>
              </a:rPr>
              <a:t>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7673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TypeScript + esbuild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3785615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2245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Content script + service 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42428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691640"/>
            <a:ext cx="2542032" cy="3200400"/>
          </a:xfrm>
          <a:prstGeom prst="roundRect">
            <a:avLst>
              <a:gd name="adj" fmla="val 5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1691640"/>
            <a:ext cx="2542032" cy="50292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2736" y="19019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30">
                <a:solidFill>
                  <a:srgbClr val="4CC5D0"/>
                </a:solidFill>
                <a:latin typeface="Segoe UI"/>
              </a:rPr>
              <a:t>ON-DEVICE 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23957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ONNX Runtime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4140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28529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WebGPU, WASM + SIMD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8712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33101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ViT-Tiny crop classifier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3284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37673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int8 quantised UI detector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785615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736" y="42245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OffscreenCanvas + Web Workers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2428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8192" y="1691640"/>
            <a:ext cx="2542032" cy="3200400"/>
          </a:xfrm>
          <a:prstGeom prst="roundRect">
            <a:avLst>
              <a:gd name="adj" fmla="val 5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08192" y="1691640"/>
            <a:ext cx="2542032" cy="50292"/>
          </a:xfrm>
          <a:prstGeom prst="rect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19019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30">
                <a:solidFill>
                  <a:srgbClr val="E39A57"/>
                </a:solidFill>
                <a:latin typeface="Segoe UI"/>
              </a:rPr>
              <a:t>BROWSER APIS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23957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DOM + accessible names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24140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28529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captureVisibleTab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8712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33101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Mutation / Intersection observers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6992" y="33284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7673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Range.getClientRects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992" y="3785615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42245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Canvas bounding-box masking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6992" y="42428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33104" y="1691640"/>
            <a:ext cx="2542032" cy="3200400"/>
          </a:xfrm>
          <a:prstGeom prst="roundRect">
            <a:avLst>
              <a:gd name="adj" fmla="val 5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33104" y="1691640"/>
            <a:ext cx="2542032" cy="50292"/>
          </a:xfrm>
          <a:prstGeom prst="rect">
            <a:avLst/>
          </a:prstGeom>
          <a:solidFill>
            <a:srgbClr val="9B9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19019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30">
                <a:solidFill>
                  <a:srgbClr val="9B93F5"/>
                </a:solidFill>
                <a:latin typeface="Segoe UI"/>
              </a:rPr>
              <a:t>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23957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Rule-based planner, Node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61904" y="24140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28529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Open-weights VLM via vLLM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61904" y="28712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33101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Qwen2.5-VL / Llama-3.2-Vision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61904" y="33284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37673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8E92"/>
                </a:solidFill>
                <a:latin typeface="Segoe UI"/>
              </a:rPr>
              <a:t>Guided JSON decoding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61904" y="3785615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7E8E92"/>
                </a:solidFill>
                <a:latin typeface="Segoe UI"/>
              </a:rPr>
              <a:t>PHASE 2-4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224528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PII output guard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61904" y="4242816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spc="80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5120640"/>
            <a:ext cx="10874959" cy="1005840"/>
          </a:xfrm>
          <a:prstGeom prst="roundRect">
            <a:avLst>
              <a:gd name="adj" fmla="val 6000"/>
            </a:avLst>
          </a:prstGeom>
          <a:solidFill>
            <a:srgbClr val="1D2528"/>
          </a:solidFill>
          <a:ln w="1143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76" y="5266944"/>
            <a:ext cx="10289743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1" spc="140">
                <a:solidFill>
                  <a:srgbClr val="E39A57"/>
                </a:solidFill>
                <a:latin typeface="Segoe UI"/>
              </a:rPr>
              <a:t>WHERE WE ARE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Phase 1 was deliberately the complete agent loop with no models in it — perception, detection, redaction, verification, routing and grounded execution, end to end, so the vision channel drops into a working system rather than a scaffold. The on-device inference column is phase 2 and is not yet implemented.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THE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One end-to-end task, done 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45920"/>
            <a:ext cx="10874959" cy="658368"/>
          </a:xfrm>
          <a:prstGeom prst="roundRect">
            <a:avLst>
              <a:gd name="adj" fmla="val 16000"/>
            </a:avLst>
          </a:prstGeom>
          <a:solidFill>
            <a:srgbClr val="2E2011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645920"/>
            <a:ext cx="1023487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39A57"/>
                </a:solidFill>
                <a:latin typeface="Segoe UI"/>
              </a:rPr>
              <a:t>“Fill this job application from my profile.”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871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3C0C3"/>
                </a:solidFill>
                <a:latin typeface="Segoe UI"/>
              </a:rPr>
              <a:t>One task chosen because it exercises every subsystem the PS names — and every metric it grades.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081527"/>
            <a:ext cx="109728" cy="109728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999232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Multi-section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9992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name, email, phone, experience textarea, file upload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547872"/>
            <a:ext cx="109728" cy="10972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465576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A photo and an ID-card image on the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465576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the DOM sees only &lt;img&gt; — vision is the only channel that can tell these are sensitive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014215"/>
            <a:ext cx="109728" cy="109728"/>
          </a:xfrm>
          <a:prstGeom prst="ellipse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31920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PII across both 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931920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text PII in the DOM, visual PII in the images, OCR'd text inside the ID card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480559"/>
            <a:ext cx="109728" cy="109728"/>
          </a:xfrm>
          <a:prstGeom prst="ellipse">
            <a:avLst/>
          </a:prstGeom>
          <a:solidFill>
            <a:srgbClr val="9B9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398264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Handles resolved locally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4398264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the server plans which profile slot fills which field, never learning a single value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946903"/>
            <a:ext cx="109728" cy="109728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864607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Grounding under re-render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864607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the form re-renders between steps — the agent re-perceives instead of clicking a stale id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5413247"/>
            <a:ext cx="109728" cy="109728"/>
          </a:xfrm>
          <a:prstGeom prst="ellipse">
            <a:avLst/>
          </a:prstGeom>
          <a:solidFill>
            <a:srgbClr val="F0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5330951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Human confirmation before submit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5330951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an irreversible action always stops for explicit approval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What runs today, and what does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459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3C0C3"/>
                </a:solidFill>
                <a:latin typeface="Segoe UI"/>
              </a:rPr>
              <a:t>3,633 lines of TypeScript. Four dependencies, all build tooling. The extension and server ship with zero third-party runtime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7" y="2148840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2148840"/>
            <a:ext cx="5074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41448"/>
            <a:ext cx="10515600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6946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Screen understanding — DOM + accessible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7" y="256946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56946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Live overlay labels every control; occlusion and offscreen distinguished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86207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3522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Screen understanding — vision / ViT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7" y="293522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8E92"/>
                </a:solidFill>
                <a:latin typeface="Segoe U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93522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No pixel is captured yet; the visual half of metric 1 is not addressed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22783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30098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PII detection — DOM rules + regex/checksums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7" y="330098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30098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P 1.000 / R 1.000 on the fixture, with Indian hard negatives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593591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66674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PII detection — local NER, OCR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7" y="366674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8E92"/>
                </a:solidFill>
                <a:latin typeface="Segoe UI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66674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2 of the 4 detectors exist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95935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03250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Redaction — text spans, typed handles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7" y="403250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8" y="40325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Character-offset substitution, not element blanking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32511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39826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Redaction — image bounding boxes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4607" y="439826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8E92"/>
                </a:solidFill>
                <a:latin typeface="Segoe UI"/>
              </a:rPr>
              <a:t>PHASE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439826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Needs the capture and canvas pipeline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9087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76402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Privacy verifier V1 V2 V4 V5 + V6 escalation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7" y="476402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9048" y="476402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Independent of the redactor; holds a veto; refuses rather than sends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05663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12978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Privacy verifier V3 — re-detect on masked image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4607" y="512978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39A57"/>
                </a:solidFill>
                <a:latin typeface="Segoe UI"/>
              </a:rPr>
              <a:t>STUB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512978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Honest no-op until there is an image to re-scan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42239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49554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Local-first router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7" y="549554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549554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5 of 9 benchmark tasks never touch the network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578815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86130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Encrypted profile vault — AES-256-GCM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4607" y="586130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BUILT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9048" y="58613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Beyond the original plan; PBKDF2 310k, key in session memory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615391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6227064"/>
            <a:ext cx="40690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6ECED"/>
                </a:solidFill>
                <a:latin typeface="Segoe UI"/>
              </a:rPr>
              <a:t>Server — open-weights VLM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64607" y="622706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8E92"/>
                </a:solidFill>
                <a:latin typeface="Segoe UI"/>
              </a:rPr>
              <a:t>PHASE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9048" y="622706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Rule-based planner speaks the same contract; one function to swap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6519672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Three of the five metrics are measured quantities — so we measure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3C0C3"/>
                </a:solidFill>
                <a:latin typeface="Segoe UI"/>
              </a:rPr>
              <a:t>A labelled evaluation harness ships in phase one, not as an afterthought. Judges score what you can put a number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12848"/>
            <a:ext cx="10874959" cy="1078992"/>
          </a:xfrm>
          <a:prstGeom prst="roundRect">
            <a:avLst>
              <a:gd name="adj" fmla="val 8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340864"/>
            <a:ext cx="41148" cy="822960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5915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Consolas"/>
              </a:rPr>
              <a:t>eval/screens/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340864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40–60 labelled pages — real sites saved offline plus our demo pages. Ground truth: every interactive element's bbox, role and accessible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340864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→ element P/R/F1 · role accuracy · mean bbox IoU · task-relevant hit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01568"/>
            <a:ext cx="10874959" cy="1078992"/>
          </a:xfrm>
          <a:prstGeom prst="roundRect">
            <a:avLst>
              <a:gd name="adj" fmla="val 8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529584"/>
            <a:ext cx="41148" cy="822960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5478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Consolas"/>
              </a:rPr>
              <a:t>eval/pii/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529584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Indian-context positives — Aadhaar, PAN, UPI, IFSC, IN phone formats. Hard negatives — order IDs, tracking numbers, PIN codes, prices, dates.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3529584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→ precision, recall, F1 per class · thresholds tuned on this 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90288"/>
            <a:ext cx="10874959" cy="1078992"/>
          </a:xfrm>
          <a:prstGeom prst="roundRect">
            <a:avLst>
              <a:gd name="adj" fmla="val 8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718303"/>
            <a:ext cx="41148" cy="822960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73659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Consolas"/>
              </a:rPr>
              <a:t>eval/redaction/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4718303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Ground-truth sensitive regions per screenshot, for both text spans and image regions.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4718303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→ mask IoU · over-redaction rate · leak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779008"/>
            <a:ext cx="10874959" cy="402336"/>
          </a:xfrm>
          <a:prstGeom prst="roundRect">
            <a:avLst>
              <a:gd name="adj" fmla="val 22000"/>
            </a:avLst>
          </a:prstGeom>
          <a:solidFill>
            <a:srgbClr val="1D2528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779008"/>
            <a:ext cx="10326319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eval/run.ts  prints the scorecard.  Metrics 4 and 5 come live from the telemetry HUD: per-stage ms, memory, payload bytes, p50/p95 per task.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Every metric, and where it is 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38404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1783080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EVALUATION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1783080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WEIGHT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1783080"/>
            <a:ext cx="3703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WHERE IT IS 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1783080"/>
            <a:ext cx="277063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7E8E92"/>
                </a:solidFill>
                <a:latin typeface="Segoe UI"/>
              </a:rPr>
              <a:t>EVIDENCE IN THE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75688"/>
            <a:ext cx="10515600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03704"/>
            <a:ext cx="24688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2203704"/>
            <a:ext cx="274320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ECED"/>
                </a:solidFill>
                <a:latin typeface="Segoe UI"/>
              </a:rPr>
              <a:t>Accuracy of visual context from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2203704"/>
            <a:ext cx="640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203704"/>
            <a:ext cx="356616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ScreenGraph — DOM + AX fused with detector and ViT-Tiny, IoU-matched and arbitrated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03704"/>
            <a:ext cx="2633472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Live overlay draws labelled boxes on any 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788920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862072"/>
            <a:ext cx="24688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2862072"/>
            <a:ext cx="274320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ECED"/>
                </a:solidFill>
                <a:latin typeface="Segoe UI"/>
              </a:rPr>
              <a:t>Recall and precision for PII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2776" y="2862072"/>
            <a:ext cx="640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2862072"/>
            <a:ext cx="356616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Four detectors, noisy-OR, two thresholds, context tie-break with checksums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862072"/>
            <a:ext cx="2633472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P/R/F table from the labelled corpus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447287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20439"/>
            <a:ext cx="24688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5" y="3520439"/>
            <a:ext cx="274320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ECED"/>
                </a:solidFill>
                <a:latin typeface="Segoe UI"/>
              </a:rPr>
              <a:t>Precision of redaction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2776" y="3520439"/>
            <a:ext cx="640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3520439"/>
            <a:ext cx="356616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Per-span getClientRects masks, detector box + 4px, never whole elements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3520439"/>
            <a:ext cx="2633472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Side-by-side raw vs. sanitized payload viewer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105655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178807"/>
            <a:ext cx="24688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5" y="4178807"/>
            <a:ext cx="274320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ECED"/>
                </a:solidFill>
                <a:latin typeface="Segoe UI"/>
              </a:rPr>
              <a:t>Client-side resource utilization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2776" y="4178807"/>
            <a:ext cx="640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0016" y="4178807"/>
            <a:ext cx="356616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Coverage-guided vision, delta re-perception, caching, int8 models, local-first routing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4178807"/>
            <a:ext cx="2633472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Telemetry HUD — per-stage ms and MB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764023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837175"/>
            <a:ext cx="24688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5" y="4837175"/>
            <a:ext cx="274320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6ECED"/>
                </a:solidFill>
                <a:latin typeface="Segoe UI"/>
              </a:rPr>
              <a:t>Overall end-to-end latency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22776" y="4837175"/>
            <a:ext cx="64008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39A57"/>
                </a:solidFill>
                <a:latin typeface="Segoe UI"/>
              </a:rPr>
              <a:t>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0016" y="4837175"/>
            <a:ext cx="356616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Most steps never reach the network; warm sessions; one action per round trip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4837175"/>
            <a:ext cx="2633472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3C0C3"/>
                </a:solidFill>
                <a:latin typeface="Segoe UI"/>
              </a:rPr>
              <a:t>Step timer, p50/p95, three latency modes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22391"/>
            <a:ext cx="10515600" cy="7315"/>
          </a:xfrm>
          <a:prstGeom prst="rect">
            <a:avLst/>
          </a:prstGeom>
          <a:solidFill>
            <a:srgbClr val="22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Build order — each phase demonstrable on its 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10874959" cy="978408"/>
          </a:xfrm>
          <a:prstGeom prst="roundRect">
            <a:avLst>
              <a:gd name="adj" fmla="val 8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56231"/>
            <a:ext cx="41148" cy="740664"/>
          </a:xfrm>
          <a:prstGeom prst="rect">
            <a:avLst/>
          </a:prstGeom>
          <a:solidFill>
            <a:srgbClr val="5FC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5FC08F"/>
                </a:solidFill>
                <a:latin typeface="Consolas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214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The loop, without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874519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WebExtension MV3 · ScreenGraph from DOM + AX · DOM and regex+checksum detectors · calibrated fusion · handles and vault · verifier · Router with local execution · mock server · executor with grounding · telemetry HUD · the three eval harnesses · demo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1874519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C08F"/>
                </a:solidFill>
                <a:latin typeface="Segoe UI"/>
              </a:rPr>
              <a:t>A complete, honest end-to-end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25496"/>
            <a:ext cx="10874959" cy="978408"/>
          </a:xfrm>
          <a:prstGeom prst="roundRect">
            <a:avLst>
              <a:gd name="adj" fmla="val 8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44368"/>
            <a:ext cx="41148" cy="740664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62656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4CC5D0"/>
                </a:solidFill>
                <a:latin typeface="Consolas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09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Pixels, masks, vision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962656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Screenshot → OffscreenCanvas → coverage map · ONNX Runtime Web with WebGPU and WASM fallback · face and ID detector · tight canvas bbox masking · verifier V3 · fused ScreenGraph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2962656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CC5D0"/>
                </a:solidFill>
                <a:latin typeface="Segoe UI"/>
              </a:rPr>
              <a:t>Metrics 1 and 3 become real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1"/>
            <a:ext cx="10874959" cy="978408"/>
          </a:xfrm>
          <a:prstGeom prst="roundRect">
            <a:avLst>
              <a:gd name="adj" fmla="val 8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032503"/>
            <a:ext cx="41148" cy="740664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50791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4CC5D0"/>
                </a:solidFill>
                <a:latin typeface="Consolas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97679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The ViT and the reader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050791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UI element detector fine-tuned on a UI corpus · ViT-Tiny crop classifier · OCR on text-bearing crops routed back through the text detectors · local NER · the three latency modes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4050791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CC5D0"/>
                </a:solidFill>
                <a:latin typeface="Segoe UI"/>
              </a:rPr>
              <a:t>Full on-device perception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001767"/>
            <a:ext cx="10874959" cy="978408"/>
          </a:xfrm>
          <a:prstGeom prst="roundRect">
            <a:avLst>
              <a:gd name="adj" fmla="val 8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120639"/>
            <a:ext cx="41148" cy="740664"/>
          </a:xfrm>
          <a:prstGeom prst="rect">
            <a:avLst/>
          </a:prstGeom>
          <a:solidFill>
            <a:srgbClr val="9B9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38927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spc="140">
                <a:solidFill>
                  <a:srgbClr val="9B93F5"/>
                </a:solidFill>
                <a:latin typeface="Consolas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85815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6ECED"/>
                </a:solidFill>
                <a:latin typeface="Segoe UI"/>
              </a:rPr>
              <a:t>Real reasoning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8728" y="5138927"/>
            <a:ext cx="55778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Open-weights VLM behind guided JSON decoding · redaction grammar in the system prompt · server-side PII output guard · Firefox build · final evaluation numbers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5138927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B93F5"/>
                </a:solidFill>
                <a:latin typeface="Segoe UI"/>
              </a:rPr>
              <a:t>End-to-end task, both browsers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The risks we can name, and what we do about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166360" cy="1243584"/>
          </a:xfrm>
          <a:prstGeom prst="roundRect">
            <a:avLst>
              <a:gd name="adj" fmla="val 7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41148" cy="969264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Vision model too slow in a browser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86584"/>
            <a:ext cx="46634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Coverage-guided scheduling means 5–20 small crops, not a full frame. int8 quantisation, batched WebGPU inference, cached results by crop hash.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8" y="1783080"/>
            <a:ext cx="5166360" cy="1243584"/>
          </a:xfrm>
          <a:prstGeom prst="roundRect">
            <a:avLst>
              <a:gd name="adj" fmla="val 7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9048" y="1920240"/>
            <a:ext cx="41148" cy="969264"/>
          </a:xfrm>
          <a:prstGeom prst="rect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476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WebGPU unavailable on the judging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86584"/>
            <a:ext cx="46634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ONNX Runtime Web falls back to WASM + SIMD + threads. The Fast mode runs with no vision at all and still completes the task.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00400"/>
            <a:ext cx="5166360" cy="1243584"/>
          </a:xfrm>
          <a:prstGeom prst="roundRect">
            <a:avLst>
              <a:gd name="adj" fmla="val 7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337560"/>
            <a:ext cx="41148" cy="969264"/>
          </a:xfrm>
          <a:prstGeom prst="rect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6499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Over-redaction destroys the precision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803904"/>
            <a:ext cx="46634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Two thresholds and a context tie-break, tuned on a labelled corpus with deliberate hard negatives.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8" y="3200400"/>
            <a:ext cx="5166360" cy="1243584"/>
          </a:xfrm>
          <a:prstGeom prst="roundRect">
            <a:avLst>
              <a:gd name="adj" fmla="val 7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3337560"/>
            <a:ext cx="41148" cy="969264"/>
          </a:xfrm>
          <a:prstGeom prst="rect">
            <a:avLst/>
          </a:prstGeom>
          <a:solidFill>
            <a:srgbClr val="E3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36499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Agent clicks the wrong element after a re-render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803904"/>
            <a:ext cx="46634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Stability signatures are re-checked before every action; a mismatch triggers re-perception instead of a click.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17720"/>
            <a:ext cx="5166360" cy="1243584"/>
          </a:xfrm>
          <a:prstGeom prst="roundRect">
            <a:avLst>
              <a:gd name="adj" fmla="val 7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754880"/>
            <a:ext cx="41148" cy="969264"/>
          </a:xfrm>
          <a:prstGeom prst="rect">
            <a:avLst/>
          </a:prstGeom>
          <a:solidFill>
            <a:srgbClr val="F08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78231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Prompt injection from a hostile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221224"/>
            <a:ext cx="46634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The server can only return handles; allowedSinks constrains where each handle may be written; irreversible actions always need a human.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9048" y="4617720"/>
            <a:ext cx="5166360" cy="1243584"/>
          </a:xfrm>
          <a:prstGeom prst="roundRect">
            <a:avLst>
              <a:gd name="adj" fmla="val 7000"/>
            </a:avLst>
          </a:prstGeom>
          <a:solidFill>
            <a:srgbClr val="161C1F"/>
          </a:solidFill>
          <a:ln w="9525">
            <a:solidFill>
              <a:srgbClr val="2D3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9048" y="4754880"/>
            <a:ext cx="41148" cy="969264"/>
          </a:xfrm>
          <a:prstGeom prst="rect">
            <a:avLst/>
          </a:prstGeom>
          <a:solidFill>
            <a:srgbClr val="9B9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78231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ECED"/>
                </a:solidFill>
                <a:latin typeface="Segoe UI"/>
              </a:rPr>
              <a:t>Firefox MV3 differences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5221224"/>
            <a:ext cx="46634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3C0C3"/>
                </a:solidFill>
                <a:latin typeface="Segoe UI"/>
              </a:rPr>
              <a:t>Browser-specific code isolated behind src/platform/ with webextension-polyfill and two manifests.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spc="180">
                <a:solidFill>
                  <a:srgbClr val="E39A57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79488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6ECED"/>
                </a:solidFill>
                <a:latin typeface="Segoe UI"/>
              </a:rPr>
              <a:t>What this unlocks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2D3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50">
                <a:solidFill>
                  <a:srgbClr val="7E8E92"/>
                </a:solidFill>
                <a:latin typeface="Segoe UI"/>
              </a:rPr>
              <a:t>CORDON  ·  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6400800"/>
            <a:ext cx="54374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E8E92"/>
                </a:solidFill>
                <a:latin typeface="Segoe UI"/>
              </a:rPr>
              <a:t>19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888236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7731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A higher ceiling on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7731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The tasks people refuse to hand an agent today are refused because of what would have to be uploaded. Remove the upload and the refusal goes with it.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601468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47731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Regulation-friendly by 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70632"/>
            <a:ext cx="47731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Data minimisation is not a policy here, it is the transport format. The server cannot leak what it never received.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314700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9544"/>
            <a:ext cx="477316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Cheaper to operate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83863"/>
            <a:ext cx="47731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Perception, detection and redaction run on a million clients. The fleet only sees the hard fraction, as ~10 KB of sanitized JSON.</a:t>
            </a:r>
          </a:p>
        </p:txBody>
      </p:sp>
      <p:sp>
        <p:nvSpPr>
          <p:cNvPr id="17" name="Oval 16"/>
          <p:cNvSpPr/>
          <p:nvPr/>
        </p:nvSpPr>
        <p:spPr>
          <a:xfrm>
            <a:off x="6144768" y="1888236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486460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Portable beyond the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The boundary — perceive locally, substitute, verify, escalate — is the same design for a desktop or mobile agent.</a:t>
            </a:r>
          </a:p>
        </p:txBody>
      </p:sp>
      <p:sp>
        <p:nvSpPr>
          <p:cNvPr id="20" name="Oval 19"/>
          <p:cNvSpPr/>
          <p:nvPr/>
        </p:nvSpPr>
        <p:spPr>
          <a:xfrm>
            <a:off x="6144768" y="2601468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96312"/>
            <a:ext cx="486460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Auditable 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70632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The per-step receipt makes the guarantee inspectable by the user, not just asserted in a policy document.</a:t>
            </a:r>
          </a:p>
        </p:txBody>
      </p:sp>
      <p:sp>
        <p:nvSpPr>
          <p:cNvPr id="23" name="Oval 22"/>
          <p:cNvSpPr/>
          <p:nvPr/>
        </p:nvSpPr>
        <p:spPr>
          <a:xfrm>
            <a:off x="6144768" y="3314700"/>
            <a:ext cx="91440" cy="91440"/>
          </a:xfrm>
          <a:prstGeom prst="ellipse">
            <a:avLst/>
          </a:prstGeom>
          <a:solidFill>
            <a:srgbClr val="4CC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209544"/>
            <a:ext cx="486460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6ECED"/>
                </a:solidFill>
                <a:latin typeface="Segoe UI"/>
              </a:rPr>
              <a:t>Future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83863"/>
            <a:ext cx="486460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3C0C3"/>
                </a:solidFill>
                <a:latin typeface="Segoe UI"/>
              </a:rPr>
              <a:t>Federated tuning of the detectors without collecting screens; a shared redaction-scheme spec so any server can be made scheme-aware.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92040"/>
            <a:ext cx="10874959" cy="1234440"/>
          </a:xfrm>
          <a:prstGeom prst="roundRect">
            <a:avLst>
              <a:gd name="adj" fmla="val 6000"/>
            </a:avLst>
          </a:prstGeom>
          <a:solidFill>
            <a:srgbClr val="1D2528"/>
          </a:solidFill>
          <a:ln w="12700">
            <a:solidFill>
              <a:srgbClr val="E39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5047488"/>
            <a:ext cx="10143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spc="150">
                <a:solidFill>
                  <a:srgbClr val="E39A57"/>
                </a:solidFill>
                <a:latin typeface="Segoe UI"/>
              </a:rPr>
              <a:t>IN ONE LINE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6ECED"/>
                </a:solidFill>
                <a:latin typeface="Segoe UI"/>
              </a:rPr>
              <a:t>The client sees everything and decides most things itself. The server receives a censored map with placeholders, and only ever answers “do this to that box.”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